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6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8229600" cx="14630400"/>
  <p:notesSz cx="8229600" cy="14630400"/>
  <p:embeddedFontLst>
    <p:embeddedFont>
      <p:font typeface="Heebo"/>
      <p:regular r:id="rId12"/>
      <p:bold r:id="rId13"/>
    </p:embeddedFont>
    <p:embeddedFont>
      <p:font typeface="Crimson Pr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Heebo-bold.fntdata"/><Relationship Id="rId12" Type="http://schemas.openxmlformats.org/officeDocument/2006/relationships/font" Target="fonts/Heebo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CrimsonPro-bold.fntdata"/><Relationship Id="rId14" Type="http://schemas.openxmlformats.org/officeDocument/2006/relationships/font" Target="fonts/CrimsonPro-regular.fntdata"/><Relationship Id="rId17" Type="http://schemas.openxmlformats.org/officeDocument/2006/relationships/font" Target="fonts/CrimsonPro-boldItalic.fntdata"/><Relationship Id="rId16" Type="http://schemas.openxmlformats.org/officeDocument/2006/relationships/font" Target="fonts/CrimsonPro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hyperlink" Target="#" TargetMode="External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hyperlink" Target="#" TargetMode="External"/><Relationship Id="rId5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hyperlink" Target="about:blank" TargetMode="External"/><Relationship Id="rId5" Type="http://schemas.openxmlformats.org/officeDocument/2006/relationships/image" Target="../media/image11.png"/><Relationship Id="rId6" Type="http://schemas.openxmlformats.org/officeDocument/2006/relationships/hyperlink" Target="about:blank" TargetMode="External"/><Relationship Id="rId7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4" name="Google Shape;4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0"/>
          <p:cNvSpPr/>
          <p:nvPr/>
        </p:nvSpPr>
        <p:spPr>
          <a:xfrm>
            <a:off x="6280190" y="1304211"/>
            <a:ext cx="6781681" cy="620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58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3900"/>
              <a:buFont typeface="Crimson Pro"/>
              <a:buNone/>
            </a:pPr>
            <a:r>
              <a:rPr b="0" i="0" lang="en-US" sz="3900" u="none" cap="none" strike="noStrike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Engineering Predictable Revenue</a:t>
            </a:r>
            <a:endParaRPr b="0" i="0" sz="3900" u="none" cap="none" strike="noStrike"/>
          </a:p>
        </p:txBody>
      </p:sp>
      <p:sp>
        <p:nvSpPr>
          <p:cNvPr id="46" name="Google Shape;46;p10"/>
          <p:cNvSpPr/>
          <p:nvPr/>
        </p:nvSpPr>
        <p:spPr>
          <a:xfrm>
            <a:off x="6280190" y="2221944"/>
            <a:ext cx="7556421" cy="9526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550"/>
              <a:buFont typeface="Heebo"/>
              <a:buNone/>
            </a:pPr>
            <a:r>
              <a:rPr b="0" i="0" lang="en-US" sz="15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Elevate your go-to-market strategy with expert automation and engineering solutions. We empower B2B SaaS companies to achieve predictable revenue growth by building robust technical infrastructure.</a:t>
            </a:r>
            <a:endParaRPr b="0" i="0" sz="1550" u="none" cap="none" strike="noStrike"/>
          </a:p>
        </p:txBody>
      </p:sp>
      <p:sp>
        <p:nvSpPr>
          <p:cNvPr id="47" name="Google Shape;47;p10"/>
          <p:cNvSpPr/>
          <p:nvPr/>
        </p:nvSpPr>
        <p:spPr>
          <a:xfrm>
            <a:off x="6280190" y="3397806"/>
            <a:ext cx="7556421" cy="63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SzPts val="1550"/>
              <a:buFont typeface="Arial"/>
              <a:buNone/>
            </a:pPr>
            <a:r>
              <a:t/>
            </a:r>
            <a:endParaRPr b="0" i="0" sz="1550" u="none" cap="none" strike="noStrike"/>
          </a:p>
        </p:txBody>
      </p:sp>
      <p:sp>
        <p:nvSpPr>
          <p:cNvPr id="48" name="Google Shape;48;p10"/>
          <p:cNvSpPr/>
          <p:nvPr/>
        </p:nvSpPr>
        <p:spPr>
          <a:xfrm>
            <a:off x="6280190" y="4256127"/>
            <a:ext cx="7556421" cy="9526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550"/>
              <a:buFont typeface="Heebo"/>
              <a:buNone/>
            </a:pPr>
            <a:r>
              <a:rPr b="0" i="0" lang="en-US" sz="15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Our services span from optimizing outbound prospecting to **streamlining content creation**, ensuring every facet of your GTM operations is engineered for maximum efficiency.</a:t>
            </a:r>
            <a:endParaRPr b="0" i="0" sz="1550" u="none" cap="none" strike="noStrike"/>
          </a:p>
        </p:txBody>
      </p:sp>
      <p:sp>
        <p:nvSpPr>
          <p:cNvPr id="49" name="Google Shape;49;p10"/>
          <p:cNvSpPr/>
          <p:nvPr/>
        </p:nvSpPr>
        <p:spPr>
          <a:xfrm>
            <a:off x="6280190" y="5431988"/>
            <a:ext cx="7556421" cy="63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SzPts val="1550"/>
              <a:buFont typeface="Arial"/>
              <a:buNone/>
            </a:pPr>
            <a:r>
              <a:t/>
            </a:r>
            <a:endParaRPr b="0" i="0" sz="1550" u="none" cap="none" strike="noStrike"/>
          </a:p>
        </p:txBody>
      </p:sp>
      <p:sp>
        <p:nvSpPr>
          <p:cNvPr id="50" name="Google Shape;50;p10"/>
          <p:cNvSpPr/>
          <p:nvPr/>
        </p:nvSpPr>
        <p:spPr>
          <a:xfrm>
            <a:off x="6280190" y="6290310"/>
            <a:ext cx="7556421" cy="63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550"/>
              <a:buFont typeface="Heebo"/>
              <a:buNone/>
            </a:pPr>
            <a:r>
              <a:rPr b="1" i="0" lang="en-US" sz="15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Ready to drive predictable growth?</a:t>
            </a:r>
            <a:r>
              <a:rPr b="0" i="0" lang="en-US" sz="15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Connect with us to unlock your full market potential.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748070" y="514350"/>
            <a:ext cx="11578947" cy="584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27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3650"/>
              <a:buFont typeface="Crimson Pro"/>
              <a:buNone/>
            </a:pPr>
            <a:r>
              <a:rPr b="0" i="0" lang="en-US" sz="3650" u="none" cap="none" strike="noStrike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Precision Outbound Automation: Drive Predictable Revenue</a:t>
            </a:r>
            <a:endParaRPr b="0" i="0" sz="3650" u="none" cap="none" strike="noStrike"/>
          </a:p>
        </p:txBody>
      </p:sp>
      <p:sp>
        <p:nvSpPr>
          <p:cNvPr id="57" name="Google Shape;57;p11"/>
          <p:cNvSpPr/>
          <p:nvPr/>
        </p:nvSpPr>
        <p:spPr>
          <a:xfrm>
            <a:off x="748070" y="1566148"/>
            <a:ext cx="4756309" cy="350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200"/>
              <a:buFont typeface="Crimson Pro"/>
              <a:buNone/>
            </a:pPr>
            <a:r>
              <a:rPr b="0" i="0" lang="en-US" sz="2200" u="none" cap="none" strike="noStrike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Hyper-Personalized Engagement at Scale</a:t>
            </a:r>
            <a:endParaRPr b="0" i="0" sz="2200" u="none" cap="none" strike="noStrike"/>
          </a:p>
        </p:txBody>
      </p:sp>
      <p:sp>
        <p:nvSpPr>
          <p:cNvPr id="58" name="Google Shape;58;p11"/>
          <p:cNvSpPr/>
          <p:nvPr/>
        </p:nvSpPr>
        <p:spPr>
          <a:xfrm>
            <a:off x="748070" y="2103715"/>
            <a:ext cx="6339007" cy="897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450"/>
              <a:buFont typeface="Heebo"/>
              <a:buNone/>
            </a:pPr>
            <a:r>
              <a:rPr b="0" i="0" lang="en-US" sz="14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Implement </a:t>
            </a:r>
            <a:r>
              <a:rPr b="1" i="0" lang="en-US" sz="14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sophisticated outbound automation</a:t>
            </a:r>
            <a:r>
              <a:rPr b="0" i="0" lang="en-US" sz="14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designed to maximize your reach and impact. We configure processes that deliver personalized emails directly to contacts within your CRM.</a:t>
            </a:r>
            <a:endParaRPr b="0" i="0" sz="1450" u="none" cap="none" strike="noStrike"/>
          </a:p>
        </p:txBody>
      </p:sp>
      <p:sp>
        <p:nvSpPr>
          <p:cNvPr id="59" name="Google Shape;59;p11"/>
          <p:cNvSpPr/>
          <p:nvPr/>
        </p:nvSpPr>
        <p:spPr>
          <a:xfrm>
            <a:off x="748070" y="3169563"/>
            <a:ext cx="6339007" cy="299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450"/>
              <a:buFont typeface="Heebo"/>
              <a:buNone/>
            </a:pPr>
            <a:r>
              <a:rPr b="0" i="0" lang="en-US" sz="14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Each message is meticulously crafted based on:</a:t>
            </a:r>
            <a:endParaRPr b="0" i="0" sz="1450" u="none" cap="none" strike="noStrike"/>
          </a:p>
        </p:txBody>
      </p:sp>
      <p:sp>
        <p:nvSpPr>
          <p:cNvPr id="60" name="Google Shape;60;p11"/>
          <p:cNvSpPr/>
          <p:nvPr/>
        </p:nvSpPr>
        <p:spPr>
          <a:xfrm>
            <a:off x="748070" y="3637002"/>
            <a:ext cx="6339007" cy="299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450"/>
              <a:buFont typeface="Heebo"/>
              <a:buNone/>
            </a:pPr>
            <a:r>
              <a:rPr b="1" i="0" lang="en-US" sz="14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Prospect Data</a:t>
            </a:r>
            <a:r>
              <a:rPr b="0" i="0" lang="en-US" sz="14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: Deep insights inform every communication.</a:t>
            </a:r>
            <a:endParaRPr b="0" i="0" sz="1450" u="none" cap="none" strike="noStrike"/>
          </a:p>
        </p:txBody>
      </p:sp>
      <p:sp>
        <p:nvSpPr>
          <p:cNvPr id="61" name="Google Shape;61;p11"/>
          <p:cNvSpPr/>
          <p:nvPr/>
        </p:nvSpPr>
        <p:spPr>
          <a:xfrm>
            <a:off x="748070" y="4001572"/>
            <a:ext cx="6339007" cy="299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450"/>
              <a:buFont typeface="Heebo"/>
              <a:buNone/>
            </a:pPr>
            <a:r>
              <a:rPr b="1" i="0" lang="en-US" sz="14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Company Research</a:t>
            </a:r>
            <a:r>
              <a:rPr b="0" i="0" lang="en-US" sz="14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: Tailored content that resonates.</a:t>
            </a:r>
            <a:endParaRPr b="0" i="0" sz="1450" u="none" cap="none" strike="noStrike"/>
          </a:p>
        </p:txBody>
      </p:sp>
      <p:sp>
        <p:nvSpPr>
          <p:cNvPr id="62" name="Google Shape;62;p11"/>
          <p:cNvSpPr/>
          <p:nvPr/>
        </p:nvSpPr>
        <p:spPr>
          <a:xfrm>
            <a:off x="748070" y="4366141"/>
            <a:ext cx="6339007" cy="299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450"/>
              <a:buFont typeface="Heebo"/>
              <a:buNone/>
            </a:pPr>
            <a:r>
              <a:rPr b="1" i="0" lang="en-US" sz="14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Behavioral Triggers</a:t>
            </a:r>
            <a:r>
              <a:rPr b="0" i="0" lang="en-US" sz="14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: Timely engagement for maximum effect.</a:t>
            </a:r>
            <a:endParaRPr b="0" i="0" sz="1450" u="none" cap="none" strike="noStrike"/>
          </a:p>
        </p:txBody>
      </p:sp>
      <p:sp>
        <p:nvSpPr>
          <p:cNvPr id="63" name="Google Shape;63;p11"/>
          <p:cNvSpPr/>
          <p:nvPr/>
        </p:nvSpPr>
        <p:spPr>
          <a:xfrm>
            <a:off x="748070" y="4833580"/>
            <a:ext cx="6339007" cy="299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SzPts val="1450"/>
              <a:buFont typeface="Arial"/>
              <a:buNone/>
            </a:pPr>
            <a:r>
              <a:t/>
            </a:r>
            <a:endParaRPr b="0" i="0" sz="1450" u="none" cap="none" strike="noStrike"/>
          </a:p>
        </p:txBody>
      </p:sp>
      <p:sp>
        <p:nvSpPr>
          <p:cNvPr id="64" name="Google Shape;64;p11"/>
          <p:cNvSpPr/>
          <p:nvPr/>
        </p:nvSpPr>
        <p:spPr>
          <a:xfrm>
            <a:off x="748070" y="5301020"/>
            <a:ext cx="6339007" cy="299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450"/>
              <a:buFont typeface="Heebo"/>
              <a:buNone/>
            </a:pPr>
            <a:r>
              <a:rPr b="0" i="0" lang="en-US" sz="14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Our system dynamically updates your CRM with essential metrics:</a:t>
            </a:r>
            <a:endParaRPr b="0" i="0" sz="1450" u="none" cap="none" strike="noStrike"/>
          </a:p>
        </p:txBody>
      </p:sp>
      <p:sp>
        <p:nvSpPr>
          <p:cNvPr id="65" name="Google Shape;65;p11"/>
          <p:cNvSpPr/>
          <p:nvPr/>
        </p:nvSpPr>
        <p:spPr>
          <a:xfrm>
            <a:off x="748070" y="5768459"/>
            <a:ext cx="6339007" cy="299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450"/>
              <a:buFont typeface="Heebo"/>
              <a:buNone/>
            </a:pPr>
            <a:r>
              <a:rPr b="1" i="0" lang="en-US" sz="14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Activity &amp; Response Rates</a:t>
            </a:r>
            <a:r>
              <a:rPr b="0" i="0" lang="en-US" sz="14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: Understand interaction patterns.</a:t>
            </a:r>
            <a:endParaRPr b="0" i="0" sz="1450" u="none" cap="none" strike="noStrike"/>
          </a:p>
        </p:txBody>
      </p:sp>
      <p:sp>
        <p:nvSpPr>
          <p:cNvPr id="66" name="Google Shape;66;p11"/>
          <p:cNvSpPr/>
          <p:nvPr/>
        </p:nvSpPr>
        <p:spPr>
          <a:xfrm>
            <a:off x="748070" y="6133028"/>
            <a:ext cx="6339007" cy="897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450"/>
              <a:buFont typeface="Heebo"/>
              <a:buNone/>
            </a:pPr>
            <a:r>
              <a:rPr b="1" i="0" lang="en-US" sz="14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Engagement Data</a:t>
            </a:r>
            <a:r>
              <a:rPr b="0" i="0" lang="en-US" sz="14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: Gain real-time insights into prospect behavior and campaign performance, empowering your sales team with actionable intelligence.</a:t>
            </a:r>
            <a:endParaRPr b="0" i="0" sz="1450" u="none" cap="none" strike="noStrike"/>
          </a:p>
        </p:txBody>
      </p:sp>
      <p:sp>
        <p:nvSpPr>
          <p:cNvPr id="67" name="Google Shape;67;p11"/>
          <p:cNvSpPr/>
          <p:nvPr/>
        </p:nvSpPr>
        <p:spPr>
          <a:xfrm>
            <a:off x="748070" y="7198876"/>
            <a:ext cx="6339007" cy="299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SzPts val="1450"/>
              <a:buFont typeface="Arial"/>
              <a:buNone/>
            </a:pPr>
            <a:r>
              <a:t/>
            </a:r>
            <a:endParaRPr b="0" i="0" sz="1450" u="none" cap="none" strike="noStrike"/>
          </a:p>
        </p:txBody>
      </p:sp>
      <p:pic>
        <p:nvPicPr>
          <p:cNvPr descr="preencoded.png" id="68" name="Google Shape;6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0944" y="1589603"/>
            <a:ext cx="6339007" cy="63390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"/>
          <p:cNvSpPr/>
          <p:nvPr/>
        </p:nvSpPr>
        <p:spPr>
          <a:xfrm>
            <a:off x="793790" y="1705928"/>
            <a:ext cx="5258395" cy="620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58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3900"/>
              <a:buFont typeface="Crimson Pro"/>
              <a:buNone/>
            </a:pPr>
            <a:r>
              <a:rPr b="0" i="0" lang="en-US" sz="3900" u="none" cap="none" strike="noStrike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Mastering Inbound Leads</a:t>
            </a:r>
            <a:endParaRPr b="0" i="0" sz="3900" u="none" cap="none" strike="noStrike"/>
          </a:p>
        </p:txBody>
      </p:sp>
      <p:sp>
        <p:nvSpPr>
          <p:cNvPr id="75" name="Google Shape;75;p12"/>
          <p:cNvSpPr/>
          <p:nvPr/>
        </p:nvSpPr>
        <p:spPr>
          <a:xfrm>
            <a:off x="793790" y="2722840"/>
            <a:ext cx="198358" cy="2480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550"/>
              <a:buFont typeface="Crimson Pro"/>
              <a:buNone/>
            </a:pPr>
            <a:r>
              <a:rPr b="0" i="0" lang="en-US" sz="1550" u="none" cap="none" strike="noStrike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01</a:t>
            </a:r>
            <a:endParaRPr b="0" i="0" sz="1550" u="none" cap="none" strike="noStrike"/>
          </a:p>
        </p:txBody>
      </p:sp>
      <p:sp>
        <p:nvSpPr>
          <p:cNvPr id="76" name="Google Shape;76;p12"/>
          <p:cNvSpPr/>
          <p:nvPr/>
        </p:nvSpPr>
        <p:spPr>
          <a:xfrm>
            <a:off x="793790" y="3037165"/>
            <a:ext cx="4215289" cy="22860"/>
          </a:xfrm>
          <a:prstGeom prst="rect">
            <a:avLst/>
          </a:prstGeom>
          <a:solidFill>
            <a:srgbClr val="215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2"/>
          <p:cNvSpPr/>
          <p:nvPr/>
        </p:nvSpPr>
        <p:spPr>
          <a:xfrm>
            <a:off x="793790" y="3182064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950"/>
              <a:buFont typeface="Crimson Pro"/>
              <a:buNone/>
            </a:pPr>
            <a:r>
              <a:rPr b="0" i="0" lang="en-US" sz="1950" u="none" cap="none" strike="noStrike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Effortless Lead Capture</a:t>
            </a:r>
            <a:endParaRPr b="0" i="0" sz="1950" u="none" cap="none" strike="noStrike"/>
          </a:p>
        </p:txBody>
      </p:sp>
      <p:sp>
        <p:nvSpPr>
          <p:cNvPr id="78" name="Google Shape;78;p12"/>
          <p:cNvSpPr/>
          <p:nvPr/>
        </p:nvSpPr>
        <p:spPr>
          <a:xfrm>
            <a:off x="793790" y="3611285"/>
            <a:ext cx="4215289" cy="15876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550"/>
              <a:buFont typeface="Heebo"/>
              <a:buNone/>
            </a:pPr>
            <a:r>
              <a:rPr b="0" i="0" lang="en-US" sz="15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Automatically capture and enrich inbound leads. Gather comprehensive company and contact information. This ensures leads are **fully prepared for sales before initial contact.**</a:t>
            </a:r>
            <a:endParaRPr b="0" i="0" sz="1550" u="none" cap="none" strike="noStrike"/>
          </a:p>
        </p:txBody>
      </p:sp>
      <p:sp>
        <p:nvSpPr>
          <p:cNvPr id="79" name="Google Shape;79;p12"/>
          <p:cNvSpPr/>
          <p:nvPr/>
        </p:nvSpPr>
        <p:spPr>
          <a:xfrm>
            <a:off x="5207437" y="2722840"/>
            <a:ext cx="198358" cy="2480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550"/>
              <a:buFont typeface="Crimson Pro"/>
              <a:buNone/>
            </a:pPr>
            <a:r>
              <a:rPr b="0" i="0" lang="en-US" sz="1550" u="none" cap="none" strike="noStrike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02</a:t>
            </a:r>
            <a:endParaRPr b="0" i="0" sz="1550" u="none" cap="none" strike="noStrike"/>
          </a:p>
        </p:txBody>
      </p:sp>
      <p:sp>
        <p:nvSpPr>
          <p:cNvPr id="80" name="Google Shape;80;p12"/>
          <p:cNvSpPr/>
          <p:nvPr/>
        </p:nvSpPr>
        <p:spPr>
          <a:xfrm>
            <a:off x="5207437" y="3037165"/>
            <a:ext cx="4215408" cy="22860"/>
          </a:xfrm>
          <a:prstGeom prst="rect">
            <a:avLst/>
          </a:prstGeom>
          <a:solidFill>
            <a:srgbClr val="215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2"/>
          <p:cNvSpPr/>
          <p:nvPr/>
        </p:nvSpPr>
        <p:spPr>
          <a:xfrm>
            <a:off x="5207437" y="3182064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950"/>
              <a:buFont typeface="Crimson Pro"/>
              <a:buNone/>
            </a:pPr>
            <a:r>
              <a:rPr b="0" i="0" lang="en-US" sz="1950" u="none" cap="none" strike="noStrike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Precision Lead Routing</a:t>
            </a:r>
            <a:endParaRPr b="0" i="0" sz="1950" u="none" cap="none" strike="noStrike"/>
          </a:p>
        </p:txBody>
      </p:sp>
      <p:sp>
        <p:nvSpPr>
          <p:cNvPr id="82" name="Google Shape;82;p12"/>
          <p:cNvSpPr/>
          <p:nvPr/>
        </p:nvSpPr>
        <p:spPr>
          <a:xfrm>
            <a:off x="5207437" y="3611285"/>
            <a:ext cx="4215408" cy="15876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550"/>
              <a:buFont typeface="Heebo"/>
              <a:buNone/>
            </a:pPr>
            <a:r>
              <a:rPr b="0" i="0" lang="en-US" sz="15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Route qualified leads to the optimal sales representatives. **Ensure perfect alignment by territory, deal size, and industry vertical.** Leverage custom SQL scoring criteria for maximum efficiency.</a:t>
            </a:r>
            <a:endParaRPr b="0" i="0" sz="1550" u="none" cap="none" strike="noStrike"/>
          </a:p>
        </p:txBody>
      </p:sp>
      <p:sp>
        <p:nvSpPr>
          <p:cNvPr id="83" name="Google Shape;83;p12"/>
          <p:cNvSpPr/>
          <p:nvPr/>
        </p:nvSpPr>
        <p:spPr>
          <a:xfrm>
            <a:off x="9621203" y="2722840"/>
            <a:ext cx="198358" cy="2480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550"/>
              <a:buFont typeface="Crimson Pro"/>
              <a:buNone/>
            </a:pPr>
            <a:r>
              <a:rPr b="0" i="0" lang="en-US" sz="1550" u="none" cap="none" strike="noStrike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03</a:t>
            </a:r>
            <a:endParaRPr b="0" i="0" sz="1550" u="none" cap="none" strike="noStrike"/>
          </a:p>
        </p:txBody>
      </p:sp>
      <p:sp>
        <p:nvSpPr>
          <p:cNvPr id="84" name="Google Shape;84;p12"/>
          <p:cNvSpPr/>
          <p:nvPr/>
        </p:nvSpPr>
        <p:spPr>
          <a:xfrm>
            <a:off x="9621203" y="3037165"/>
            <a:ext cx="4215289" cy="22860"/>
          </a:xfrm>
          <a:prstGeom prst="rect">
            <a:avLst/>
          </a:prstGeom>
          <a:solidFill>
            <a:srgbClr val="215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2"/>
          <p:cNvSpPr/>
          <p:nvPr/>
        </p:nvSpPr>
        <p:spPr>
          <a:xfrm>
            <a:off x="9621203" y="3182064"/>
            <a:ext cx="3368040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950"/>
              <a:buFont typeface="Crimson Pro"/>
              <a:buNone/>
            </a:pPr>
            <a:r>
              <a:rPr b="0" i="0" lang="en-US" sz="1950" u="none" cap="none" strike="noStrike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Dynamic Nurturing &amp; Follow-up</a:t>
            </a:r>
            <a:endParaRPr b="0" i="0" sz="1950" u="none" cap="none" strike="noStrike"/>
          </a:p>
        </p:txBody>
      </p:sp>
      <p:sp>
        <p:nvSpPr>
          <p:cNvPr id="86" name="Google Shape;86;p12"/>
          <p:cNvSpPr/>
          <p:nvPr/>
        </p:nvSpPr>
        <p:spPr>
          <a:xfrm>
            <a:off x="9621203" y="3611285"/>
            <a:ext cx="4215289" cy="15876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550"/>
              <a:buFont typeface="Heebo"/>
              <a:buNone/>
            </a:pPr>
            <a:r>
              <a:rPr b="0" i="0" lang="en-US" sz="15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Deploy personalized, automated message sequences that **nurture leads effectively through your sales funnel.** Strategically maintain critical human touchpoints for higher conversion rates.</a:t>
            </a:r>
            <a:endParaRPr b="0" i="0" sz="1550" u="none" cap="none" strike="noStrike"/>
          </a:p>
        </p:txBody>
      </p:sp>
      <p:sp>
        <p:nvSpPr>
          <p:cNvPr id="87" name="Google Shape;87;p12"/>
          <p:cNvSpPr/>
          <p:nvPr/>
        </p:nvSpPr>
        <p:spPr>
          <a:xfrm>
            <a:off x="793790" y="5571053"/>
            <a:ext cx="13042821" cy="9526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550"/>
              <a:buFont typeface="Heebo"/>
              <a:buNone/>
            </a:pPr>
            <a:r>
              <a:rPr b="0" i="0" lang="en-US" sz="15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This sophisticated system ensures **no lead ever falls through the cracks**, empowering your sales team with the essential context needed for **high-impact conversations from day one.****Elevate your sales pipeline today.**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3" name="Google Shape;9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48090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3"/>
          <p:cNvSpPr/>
          <p:nvPr/>
        </p:nvSpPr>
        <p:spPr>
          <a:xfrm>
            <a:off x="793790" y="3260408"/>
            <a:ext cx="8537496" cy="620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58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3900"/>
              <a:buFont typeface="Crimson Pro"/>
              <a:buNone/>
            </a:pPr>
            <a:r>
              <a:rPr b="0" i="0" lang="en-US" sz="3900" u="none" cap="none" strike="noStrike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Maximize Multi-Channel Content Impact</a:t>
            </a:r>
            <a:endParaRPr b="0" i="0" sz="3900" u="none" cap="none" strike="noStrike"/>
          </a:p>
        </p:txBody>
      </p:sp>
      <p:sp>
        <p:nvSpPr>
          <p:cNvPr id="95" name="Google Shape;95;p13"/>
          <p:cNvSpPr/>
          <p:nvPr/>
        </p:nvSpPr>
        <p:spPr>
          <a:xfrm>
            <a:off x="793790" y="4178141"/>
            <a:ext cx="4215289" cy="2413635"/>
          </a:xfrm>
          <a:prstGeom prst="roundRect">
            <a:avLst>
              <a:gd fmla="val 1233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3"/>
          <p:cNvSpPr/>
          <p:nvPr/>
        </p:nvSpPr>
        <p:spPr>
          <a:xfrm>
            <a:off x="992148" y="4376499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950"/>
              <a:buFont typeface="Crimson Pro"/>
              <a:buNone/>
            </a:pPr>
            <a:r>
              <a:rPr b="0" i="0" lang="en-US" sz="1950" u="none" cap="none" strike="noStrike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LinkedIn Engagement</a:t>
            </a:r>
            <a:endParaRPr b="0" i="0" sz="1950" u="none" cap="none" strike="noStrike"/>
          </a:p>
        </p:txBody>
      </p:sp>
      <p:sp>
        <p:nvSpPr>
          <p:cNvPr id="97" name="Google Shape;97;p13"/>
          <p:cNvSpPr/>
          <p:nvPr/>
        </p:nvSpPr>
        <p:spPr>
          <a:xfrm>
            <a:off x="992148" y="4805720"/>
            <a:ext cx="3818573" cy="15876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550"/>
              <a:buFont typeface="Heebo"/>
              <a:buNone/>
            </a:pPr>
            <a:r>
              <a:rPr b="0" i="0" lang="en-US" sz="15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Craft **personalized, high-impact LinkedIn messages** (up to 2,700 characters) that resonate with your ICP. Drive meaningful conversations and accelerate pipeline generation.</a:t>
            </a:r>
            <a:endParaRPr b="0" i="0" sz="1550" u="none" cap="none" strike="noStrike"/>
          </a:p>
        </p:txBody>
      </p:sp>
      <p:sp>
        <p:nvSpPr>
          <p:cNvPr id="98" name="Google Shape;98;p13"/>
          <p:cNvSpPr/>
          <p:nvPr/>
        </p:nvSpPr>
        <p:spPr>
          <a:xfrm>
            <a:off x="5207437" y="4178141"/>
            <a:ext cx="4215408" cy="2413635"/>
          </a:xfrm>
          <a:prstGeom prst="roundRect">
            <a:avLst>
              <a:gd fmla="val 1233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3"/>
          <p:cNvSpPr/>
          <p:nvPr/>
        </p:nvSpPr>
        <p:spPr>
          <a:xfrm>
            <a:off x="5405795" y="4376499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950"/>
              <a:buFont typeface="Crimson Pro"/>
              <a:buNone/>
            </a:pPr>
            <a:r>
              <a:rPr b="0" i="0" lang="en-US" sz="1950" u="none" cap="none" strike="noStrike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Strategic Social Posts</a:t>
            </a:r>
            <a:endParaRPr b="0" i="0" sz="1950" u="none" cap="none" strike="noStrike"/>
          </a:p>
        </p:txBody>
      </p:sp>
      <p:sp>
        <p:nvSpPr>
          <p:cNvPr id="100" name="Google Shape;100;p13"/>
          <p:cNvSpPr/>
          <p:nvPr/>
        </p:nvSpPr>
        <p:spPr>
          <a:xfrm>
            <a:off x="5405795" y="4805720"/>
            <a:ext cx="3818692" cy="15876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550"/>
              <a:buFont typeface="Heebo"/>
              <a:buNone/>
            </a:pPr>
            <a:r>
              <a:rPr b="0" i="0" lang="en-US" sz="15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Deliver **engaging, optimized social media content** (e.g., 170-character X.com posts). Amplify brand awareness and foster interaction within your target market.</a:t>
            </a:r>
            <a:endParaRPr b="0" i="0" sz="1550" u="none" cap="none" strike="noStrike"/>
          </a:p>
        </p:txBody>
      </p:sp>
      <p:sp>
        <p:nvSpPr>
          <p:cNvPr id="101" name="Google Shape;101;p13"/>
          <p:cNvSpPr/>
          <p:nvPr/>
        </p:nvSpPr>
        <p:spPr>
          <a:xfrm>
            <a:off x="9621203" y="4178141"/>
            <a:ext cx="4215289" cy="2413635"/>
          </a:xfrm>
          <a:prstGeom prst="roundRect">
            <a:avLst>
              <a:gd fmla="val 1233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3"/>
          <p:cNvSpPr/>
          <p:nvPr/>
        </p:nvSpPr>
        <p:spPr>
          <a:xfrm>
            <a:off x="9819561" y="4376499"/>
            <a:ext cx="2690098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950"/>
              <a:buFont typeface="Crimson Pro"/>
              <a:buNone/>
            </a:pPr>
            <a:r>
              <a:rPr b="0" i="0" lang="en-US" sz="1950" u="none" cap="none" strike="noStrike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Thought Leadership Blogs</a:t>
            </a:r>
            <a:endParaRPr b="0" i="0" sz="1950" u="none" cap="none" strike="noStrike"/>
          </a:p>
        </p:txBody>
      </p:sp>
      <p:sp>
        <p:nvSpPr>
          <p:cNvPr id="103" name="Google Shape;103;p13"/>
          <p:cNvSpPr/>
          <p:nvPr/>
        </p:nvSpPr>
        <p:spPr>
          <a:xfrm>
            <a:off x="9819561" y="4805720"/>
            <a:ext cx="3818573" cy="1270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550"/>
              <a:buFont typeface="Heebo"/>
              <a:buNone/>
            </a:pPr>
            <a:r>
              <a:rPr b="0" i="0" lang="en-US" sz="15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Generate **SEO-optimized, thought-leading blog posts** (approx. 1,200 words). Establish market authority and consistently drive qualified inbound traffic.</a:t>
            </a:r>
            <a:endParaRPr b="0" i="0" sz="1550" u="none" cap="none" strike="noStrike"/>
          </a:p>
        </p:txBody>
      </p:sp>
      <p:sp>
        <p:nvSpPr>
          <p:cNvPr id="104" name="Google Shape;104;p13"/>
          <p:cNvSpPr/>
          <p:nvPr/>
        </p:nvSpPr>
        <p:spPr>
          <a:xfrm>
            <a:off x="793790" y="6815018"/>
            <a:ext cx="13042821" cy="63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550"/>
              <a:buFont typeface="Heebo"/>
              <a:buNone/>
            </a:pPr>
            <a:r>
              <a:rPr b="0" i="0" lang="en-US" sz="15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Our advanced content engine **transforms your raw data into compelling, multi-channel narratives**. Each piece is meticulously customized to your brand's voice and Ideal Customer Profile, ensuring maximum relevance and impact. **Elevate your outreach. Drive engagement. Scale your impact.**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"/>
          <p:cNvSpPr/>
          <p:nvPr/>
        </p:nvSpPr>
        <p:spPr>
          <a:xfrm>
            <a:off x="793790" y="1098471"/>
            <a:ext cx="6228398" cy="620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58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3900"/>
              <a:buFont typeface="Crimson Pro"/>
              <a:buNone/>
            </a:pPr>
            <a:r>
              <a:rPr b="0" i="0" lang="en-US" sz="3900" u="none" cap="none" strike="noStrike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Accelerated Team Enablement</a:t>
            </a:r>
            <a:endParaRPr b="0" i="0" sz="3900" u="none" cap="none" strike="noStrike"/>
          </a:p>
        </p:txBody>
      </p:sp>
      <p:sp>
        <p:nvSpPr>
          <p:cNvPr id="111" name="Google Shape;111;p14"/>
          <p:cNvSpPr/>
          <p:nvPr/>
        </p:nvSpPr>
        <p:spPr>
          <a:xfrm>
            <a:off x="793790" y="2214563"/>
            <a:ext cx="3788688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300"/>
              <a:buFont typeface="Crimson Pro"/>
              <a:buNone/>
            </a:pPr>
            <a:r>
              <a:rPr b="0" i="0" lang="en-US" sz="2300" u="none" cap="none" strike="noStrike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Scalable Onboarding Solutions</a:t>
            </a:r>
            <a:endParaRPr b="0" i="0" sz="2300" u="none" cap="none" strike="noStrike"/>
          </a:p>
        </p:txBody>
      </p:sp>
      <p:sp>
        <p:nvSpPr>
          <p:cNvPr id="112" name="Google Shape;112;p14"/>
          <p:cNvSpPr/>
          <p:nvPr/>
        </p:nvSpPr>
        <p:spPr>
          <a:xfrm>
            <a:off x="793790" y="2784991"/>
            <a:ext cx="7632025" cy="1270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550"/>
              <a:buFont typeface="Heebo"/>
              <a:buNone/>
            </a:pPr>
            <a:r>
              <a:rPr b="0" i="0" lang="en-US" sz="15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We develop comprehensive enablement videos, meticulously designed to </a:t>
            </a:r>
            <a:r>
              <a:rPr b="1" i="0" lang="en-US" sz="15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accelerate new team member proficiency</a:t>
            </a:r>
            <a:r>
              <a:rPr b="0" i="0" lang="en-US" sz="15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in deploying and managing your automation systems. Our materials cover </a:t>
            </a:r>
            <a:r>
              <a:rPr b="1" i="0" lang="en-US" sz="15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essential setup procedures, industry best practices,</a:t>
            </a:r>
            <a:r>
              <a:rPr b="0" i="0" lang="en-US" sz="15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and </a:t>
            </a:r>
            <a:r>
              <a:rPr b="1" i="0" lang="en-US" sz="15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efficient troubleshooting techniques.</a:t>
            </a:r>
            <a:endParaRPr b="0" i="0" sz="1550" u="none" cap="none" strike="noStrike"/>
          </a:p>
        </p:txBody>
      </p:sp>
      <p:sp>
        <p:nvSpPr>
          <p:cNvPr id="113" name="Google Shape;113;p14"/>
          <p:cNvSpPr/>
          <p:nvPr/>
        </p:nvSpPr>
        <p:spPr>
          <a:xfrm>
            <a:off x="793790" y="4233743"/>
            <a:ext cx="7632025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550"/>
              <a:buFont typeface="Heebo"/>
              <a:buNone/>
            </a:pPr>
            <a:r>
              <a:rPr b="1" i="0" lang="en-US" sz="15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Significantly reduce onboarding time</a:t>
            </a:r>
            <a:r>
              <a:rPr b="0" i="0" lang="en-US" sz="15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for rapid productivity.</a:t>
            </a:r>
            <a:endParaRPr b="0" i="0" sz="1550" u="none" cap="none" strike="noStrike"/>
          </a:p>
        </p:txBody>
      </p:sp>
      <p:sp>
        <p:nvSpPr>
          <p:cNvPr id="114" name="Google Shape;114;p14"/>
          <p:cNvSpPr/>
          <p:nvPr/>
        </p:nvSpPr>
        <p:spPr>
          <a:xfrm>
            <a:off x="793790" y="4620697"/>
            <a:ext cx="7632025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550"/>
              <a:buFont typeface="Heebo"/>
              <a:buNone/>
            </a:pPr>
            <a:r>
              <a:rPr b="1" i="0" lang="en-US" sz="15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Ensure consistent system implementation</a:t>
            </a:r>
            <a:r>
              <a:rPr b="0" i="0" lang="en-US" sz="15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across your entire organization.</a:t>
            </a:r>
            <a:endParaRPr b="0" i="0" sz="1550" u="none" cap="none" strike="noStrike"/>
          </a:p>
        </p:txBody>
      </p:sp>
      <p:sp>
        <p:nvSpPr>
          <p:cNvPr id="115" name="Google Shape;115;p14"/>
          <p:cNvSpPr/>
          <p:nvPr/>
        </p:nvSpPr>
        <p:spPr>
          <a:xfrm>
            <a:off x="793790" y="5007650"/>
            <a:ext cx="7632025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550"/>
              <a:buFont typeface="Heebo"/>
              <a:buNone/>
            </a:pPr>
            <a:r>
              <a:rPr b="1" i="0" lang="en-US" sz="15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Minimize redundant training efforts</a:t>
            </a:r>
            <a:r>
              <a:rPr b="0" i="0" lang="en-US" sz="15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as your team scales and evolves.</a:t>
            </a:r>
            <a:endParaRPr b="0" i="0" sz="1550" u="none" cap="none" strike="noStrike"/>
          </a:p>
        </p:txBody>
      </p:sp>
      <p:sp>
        <p:nvSpPr>
          <p:cNvPr id="116" name="Google Shape;116;p14"/>
          <p:cNvSpPr/>
          <p:nvPr/>
        </p:nvSpPr>
        <p:spPr>
          <a:xfrm>
            <a:off x="793790" y="5503783"/>
            <a:ext cx="7632025" cy="63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550"/>
              <a:buFont typeface="Heebo"/>
              <a:buNone/>
            </a:pPr>
            <a:r>
              <a:rPr b="0" i="0" lang="en-US" sz="15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These evergreen resources empower your team with immediate access to critical knowledge, fostering self-sufficiency and driving operational excellence.</a:t>
            </a:r>
            <a:endParaRPr b="0" i="0" sz="1550" u="none" cap="none" strike="noStrike"/>
          </a:p>
        </p:txBody>
      </p:sp>
      <p:sp>
        <p:nvSpPr>
          <p:cNvPr id="117" name="Google Shape;117;p14"/>
          <p:cNvSpPr/>
          <p:nvPr/>
        </p:nvSpPr>
        <p:spPr>
          <a:xfrm>
            <a:off x="793790" y="6317456"/>
            <a:ext cx="7632025" cy="63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007F66"/>
              </a:buClr>
              <a:buSzPts val="1550"/>
              <a:buFont typeface="Heebo"/>
              <a:buNone/>
            </a:pPr>
            <a:r>
              <a:rPr b="1" i="0" lang="en-US" sz="1550" u="none" cap="none" strike="noStrike">
                <a:solidFill>
                  <a:srgbClr val="007F66"/>
                </a:solidFill>
                <a:latin typeface="Heebo"/>
                <a:ea typeface="Heebo"/>
                <a:cs typeface="Heebo"/>
                <a:sym typeface="Heebo"/>
              </a:rPr>
              <a:t>Ready to elevate your team's performance?</a:t>
            </a:r>
            <a:r>
              <a:rPr b="0" i="0" lang="en-US" sz="15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</a:t>
            </a:r>
            <a:r>
              <a:rPr b="0" i="0" lang="en-US" sz="1550" u="sng" cap="none" strike="noStrike">
                <a:solidFill>
                  <a:schemeClr val="hlink"/>
                </a:solidFill>
                <a:latin typeface="Heebo"/>
                <a:ea typeface="Heebo"/>
                <a:cs typeface="Heebo"/>
                <a:sym typeface="Heebo"/>
                <a:hlinkClick r:id="rId3"/>
              </a:rPr>
              <a:t>Discover our tailored enablement strategies.</a:t>
            </a:r>
            <a:endParaRPr b="0" i="0" sz="1550" u="none" cap="none" strike="noStrike"/>
          </a:p>
        </p:txBody>
      </p:sp>
      <p:pic>
        <p:nvPicPr>
          <p:cNvPr descr="preencoded.png" id="118" name="Google Shape;11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17543" y="2239447"/>
            <a:ext cx="3572470" cy="19846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5"/>
          <p:cNvSpPr/>
          <p:nvPr/>
        </p:nvSpPr>
        <p:spPr>
          <a:xfrm>
            <a:off x="793790" y="1521262"/>
            <a:ext cx="10525958" cy="620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58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3900"/>
              <a:buFont typeface="Crimson Pro"/>
              <a:buNone/>
            </a:pPr>
            <a:r>
              <a:rPr b="0" i="0" lang="en-US" sz="3900" u="none" cap="none" strike="noStrike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Custom AI Assistants: Powering Business Efficiency</a:t>
            </a:r>
            <a:endParaRPr b="0" i="0" sz="3900" u="none" cap="none" strike="noStrike"/>
          </a:p>
        </p:txBody>
      </p:sp>
      <p:sp>
        <p:nvSpPr>
          <p:cNvPr id="125" name="Google Shape;125;p15"/>
          <p:cNvSpPr/>
          <p:nvPr/>
        </p:nvSpPr>
        <p:spPr>
          <a:xfrm>
            <a:off x="823555" y="2526268"/>
            <a:ext cx="535781" cy="619125"/>
          </a:xfrm>
          <a:prstGeom prst="roundRect">
            <a:avLst>
              <a:gd fmla="val 10240" name="adj"/>
            </a:avLst>
          </a:prstGeom>
          <a:solidFill>
            <a:srgbClr val="DFD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6" name="Google Shape;12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538174"/>
            <a:ext cx="595313" cy="595313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/>
          <p:nvPr/>
        </p:nvSpPr>
        <p:spPr>
          <a:xfrm>
            <a:off x="793790" y="3381494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950"/>
              <a:buFont typeface="Crimson Pro"/>
              <a:buNone/>
            </a:pPr>
            <a:r>
              <a:rPr b="0" i="0" lang="en-US" sz="1950" u="none" cap="none" strike="noStrike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Automation Assistant</a:t>
            </a:r>
            <a:endParaRPr b="0" i="0" sz="1950" u="none" cap="none" strike="noStrike"/>
          </a:p>
        </p:txBody>
      </p:sp>
      <p:sp>
        <p:nvSpPr>
          <p:cNvPr id="128" name="Google Shape;128;p15"/>
          <p:cNvSpPr/>
          <p:nvPr/>
        </p:nvSpPr>
        <p:spPr>
          <a:xfrm>
            <a:off x="793790" y="3810714"/>
            <a:ext cx="4182189" cy="1270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550"/>
              <a:buFont typeface="Heebo"/>
              <a:buNone/>
            </a:pPr>
            <a:r>
              <a:rPr b="1" i="0" lang="en-US" sz="15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Streamline workflow setup</a:t>
            </a:r>
            <a:r>
              <a:rPr b="0" i="0" lang="en-US" sz="15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and optimization. Deploy new automations </a:t>
            </a:r>
            <a:r>
              <a:rPr b="1" i="0" lang="en-US" sz="15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faster and more efficiently</a:t>
            </a:r>
            <a:r>
              <a:rPr b="0" i="0" lang="en-US" sz="15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, minimizing manual effort.</a:t>
            </a:r>
            <a:endParaRPr b="0" i="0" sz="1550" u="none" cap="none" strike="noStrike"/>
          </a:p>
        </p:txBody>
      </p:sp>
      <p:sp>
        <p:nvSpPr>
          <p:cNvPr id="129" name="Google Shape;129;p15"/>
          <p:cNvSpPr/>
          <p:nvPr/>
        </p:nvSpPr>
        <p:spPr>
          <a:xfrm>
            <a:off x="5253752" y="2526268"/>
            <a:ext cx="535781" cy="619125"/>
          </a:xfrm>
          <a:prstGeom prst="roundRect">
            <a:avLst>
              <a:gd fmla="val 10240" name="adj"/>
            </a:avLst>
          </a:prstGeom>
          <a:solidFill>
            <a:srgbClr val="DFD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0" name="Google Shape;13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3986" y="2538174"/>
            <a:ext cx="595313" cy="595313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/>
          <p:nvPr/>
        </p:nvSpPr>
        <p:spPr>
          <a:xfrm>
            <a:off x="5223986" y="3381494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950"/>
              <a:buFont typeface="Crimson Pro"/>
              <a:buNone/>
            </a:pPr>
            <a:r>
              <a:rPr b="0" i="0" lang="en-US" sz="1950" u="none" cap="none" strike="noStrike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Email Generator</a:t>
            </a:r>
            <a:endParaRPr b="0" i="0" sz="1950" u="none" cap="none" strike="noStrike"/>
          </a:p>
        </p:txBody>
      </p:sp>
      <p:sp>
        <p:nvSpPr>
          <p:cNvPr id="132" name="Google Shape;132;p15"/>
          <p:cNvSpPr/>
          <p:nvPr/>
        </p:nvSpPr>
        <p:spPr>
          <a:xfrm>
            <a:off x="5223986" y="3810714"/>
            <a:ext cx="4182308" cy="1270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550"/>
              <a:buFont typeface="Heebo"/>
              <a:buNone/>
            </a:pPr>
            <a:r>
              <a:rPr b="0" i="0" lang="en-US" sz="15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Generate </a:t>
            </a:r>
            <a:r>
              <a:rPr b="1" i="0" lang="en-US" sz="15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personalized email sequences</a:t>
            </a:r>
            <a:r>
              <a:rPr b="0" i="0" lang="en-US" sz="15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aligned with your brand voice. Optimize prospect engagement and </a:t>
            </a:r>
            <a:r>
              <a:rPr b="1" i="0" lang="en-US" sz="15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achieve campaign objectives</a:t>
            </a:r>
            <a:r>
              <a:rPr b="0" i="0" lang="en-US" sz="15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.</a:t>
            </a:r>
            <a:endParaRPr b="0" i="0" sz="1550" u="none" cap="none" strike="noStrike"/>
          </a:p>
        </p:txBody>
      </p:sp>
      <p:sp>
        <p:nvSpPr>
          <p:cNvPr id="133" name="Google Shape;133;p15"/>
          <p:cNvSpPr/>
          <p:nvPr/>
        </p:nvSpPr>
        <p:spPr>
          <a:xfrm>
            <a:off x="9684068" y="2526268"/>
            <a:ext cx="535781" cy="619125"/>
          </a:xfrm>
          <a:prstGeom prst="roundRect">
            <a:avLst>
              <a:gd fmla="val 10240" name="adj"/>
            </a:avLst>
          </a:prstGeom>
          <a:solidFill>
            <a:srgbClr val="DFD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4" name="Google Shape;13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54302" y="2538174"/>
            <a:ext cx="595313" cy="595313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5"/>
          <p:cNvSpPr/>
          <p:nvPr/>
        </p:nvSpPr>
        <p:spPr>
          <a:xfrm>
            <a:off x="9654302" y="3381494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950"/>
              <a:buFont typeface="Crimson Pro"/>
              <a:buNone/>
            </a:pPr>
            <a:r>
              <a:rPr b="0" i="0" lang="en-US" sz="1950" u="none" cap="none" strike="noStrike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SEO Content Writer</a:t>
            </a:r>
            <a:endParaRPr b="0" i="0" sz="1950" u="none" cap="none" strike="noStrike"/>
          </a:p>
        </p:txBody>
      </p:sp>
      <p:sp>
        <p:nvSpPr>
          <p:cNvPr id="136" name="Google Shape;136;p15"/>
          <p:cNvSpPr/>
          <p:nvPr/>
        </p:nvSpPr>
        <p:spPr>
          <a:xfrm>
            <a:off x="9654302" y="3810714"/>
            <a:ext cx="4182308" cy="1270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550"/>
              <a:buFont typeface="Heebo"/>
              <a:buNone/>
            </a:pPr>
            <a:r>
              <a:rPr b="0" i="0" lang="en-US" sz="15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Produce </a:t>
            </a:r>
            <a:r>
              <a:rPr b="1" i="0" lang="en-US" sz="15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search-optimized content</a:t>
            </a:r>
            <a:r>
              <a:rPr b="0" i="0" lang="en-US" sz="15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that drives organic traffic. Maintain your brand's unique voice and </a:t>
            </a:r>
            <a:r>
              <a:rPr b="1" i="0" lang="en-US" sz="15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key messaging consistently</a:t>
            </a:r>
            <a:r>
              <a:rPr b="0" i="0" lang="en-US" sz="15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.</a:t>
            </a:r>
            <a:endParaRPr b="0" i="0" sz="1550" u="none" cap="none" strike="noStrike"/>
          </a:p>
        </p:txBody>
      </p:sp>
      <p:sp>
        <p:nvSpPr>
          <p:cNvPr id="137" name="Google Shape;137;p15"/>
          <p:cNvSpPr/>
          <p:nvPr/>
        </p:nvSpPr>
        <p:spPr>
          <a:xfrm>
            <a:off x="793790" y="5304115"/>
            <a:ext cx="13042821" cy="63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550"/>
              <a:buFont typeface="Heebo"/>
              <a:buNone/>
            </a:pPr>
            <a:r>
              <a:rPr b="0" i="0" lang="en-US" sz="15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Each assistant is meticulously </a:t>
            </a:r>
            <a:r>
              <a:rPr b="1" i="0" lang="en-US" sz="15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trained on your specific brand voice</a:t>
            </a:r>
            <a:r>
              <a:rPr b="0" i="0" lang="en-US" sz="15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, proprietary company data, and industry expertise. This ensures consistent, high-quality output that sounds </a:t>
            </a:r>
            <a:r>
              <a:rPr b="1" i="0" lang="en-US" sz="15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authentically like your team</a:t>
            </a:r>
            <a:r>
              <a:rPr b="0" i="0" lang="en-US" sz="15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, driving impactful results.</a:t>
            </a:r>
            <a:endParaRPr b="0" i="0" sz="1550" u="none" cap="none" strike="noStrike"/>
          </a:p>
        </p:txBody>
      </p:sp>
      <p:pic>
        <p:nvPicPr>
          <p:cNvPr descr="preencoded.png" id="138" name="Google Shape;138;p15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790" y="6162437"/>
            <a:ext cx="2555438" cy="5457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4" name="Google Shape;14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12923044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/>
          <p:nvPr/>
        </p:nvSpPr>
        <p:spPr>
          <a:xfrm>
            <a:off x="575548" y="395645"/>
            <a:ext cx="7992904" cy="89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"/>
              <a:buNone/>
            </a:pPr>
            <a:r>
              <a:rPr b="0" i="0" lang="en-US" sz="2800" u="none" cap="none" strike="noStrike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Unlocking Predictable Revenue for [CUSTOMER COMPANY NAME]</a:t>
            </a:r>
            <a:endParaRPr b="0" i="0" sz="2800" u="none" cap="none" strike="noStrike"/>
          </a:p>
        </p:txBody>
      </p:sp>
      <p:sp>
        <p:nvSpPr>
          <p:cNvPr id="146" name="Google Shape;146;p16"/>
          <p:cNvSpPr/>
          <p:nvPr/>
        </p:nvSpPr>
        <p:spPr>
          <a:xfrm>
            <a:off x="575548" y="1510546"/>
            <a:ext cx="7992904" cy="11513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GTM Engineering Services presents a strategic proposal to </a:t>
            </a:r>
            <a:r>
              <a:rPr b="1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revolutionize [CUSTOMER COMPANY NAME]'s go-to-market strategy</a:t>
            </a: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through engineering-driven automation. Our bespoke solutions are precisely designed to address </a:t>
            </a:r>
            <a:r>
              <a:rPr b="1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[SPECIFIC CHALLENGE]</a:t>
            </a: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within the </a:t>
            </a:r>
            <a:r>
              <a:rPr b="1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[CUSTOMER INDUSTRY]</a:t>
            </a: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market, ensuring </a:t>
            </a:r>
            <a:r>
              <a:rPr b="1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consistent, scalable growth</a:t>
            </a: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and a clear path to predictable revenue.Our ultimate goal: to empower your team to achieve </a:t>
            </a:r>
            <a:r>
              <a:rPr b="1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[DESIRED OUTCOME]</a:t>
            </a: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.</a:t>
            </a:r>
            <a:endParaRPr b="0" i="0" sz="1100" u="none" cap="none" strike="noStrike"/>
          </a:p>
        </p:txBody>
      </p:sp>
      <p:sp>
        <p:nvSpPr>
          <p:cNvPr id="147" name="Google Shape;147;p16"/>
          <p:cNvSpPr/>
          <p:nvPr/>
        </p:nvSpPr>
        <p:spPr>
          <a:xfrm>
            <a:off x="575548" y="2877622"/>
            <a:ext cx="6188869" cy="359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250"/>
              <a:buFont typeface="Crimson Pro"/>
              <a:buNone/>
            </a:pPr>
            <a:r>
              <a:rPr b="0" i="0" lang="en-US" sz="2250" u="none" cap="none" strike="noStrike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Our Strategic Approach &amp; Implementation Timeline</a:t>
            </a:r>
            <a:endParaRPr b="0" i="0" sz="2250" u="none" cap="none" strike="noStrike"/>
          </a:p>
        </p:txBody>
      </p:sp>
      <p:sp>
        <p:nvSpPr>
          <p:cNvPr id="148" name="Google Shape;148;p16"/>
          <p:cNvSpPr/>
          <p:nvPr/>
        </p:nvSpPr>
        <p:spPr>
          <a:xfrm>
            <a:off x="575548" y="3453051"/>
            <a:ext cx="143828" cy="179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Crimson Pro"/>
              <a:buNone/>
            </a:pPr>
            <a:r>
              <a:rPr b="0" i="0" lang="en-US" sz="1100" u="none" cap="none" strike="noStrike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01</a:t>
            </a:r>
            <a:endParaRPr b="0" i="0" sz="1100" u="none" cap="none" strike="noStrike"/>
          </a:p>
        </p:txBody>
      </p:sp>
      <p:sp>
        <p:nvSpPr>
          <p:cNvPr id="149" name="Google Shape;149;p16"/>
          <p:cNvSpPr/>
          <p:nvPr/>
        </p:nvSpPr>
        <p:spPr>
          <a:xfrm>
            <a:off x="575548" y="3682246"/>
            <a:ext cx="7992904" cy="15240"/>
          </a:xfrm>
          <a:prstGeom prst="rect">
            <a:avLst/>
          </a:prstGeom>
          <a:solidFill>
            <a:srgbClr val="215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6"/>
          <p:cNvSpPr/>
          <p:nvPr/>
        </p:nvSpPr>
        <p:spPr>
          <a:xfrm>
            <a:off x="575548" y="3784640"/>
            <a:ext cx="2524006" cy="2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400"/>
              <a:buFont typeface="Crimson Pro"/>
              <a:buNone/>
            </a:pPr>
            <a:r>
              <a:rPr b="0" i="0" lang="en-US" sz="1400" u="none" cap="none" strike="noStrike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1. Discovery &amp; Strategy Alignment</a:t>
            </a:r>
            <a:endParaRPr b="0" i="0" sz="1400" u="none" cap="none" strike="noStrike"/>
          </a:p>
        </p:txBody>
      </p:sp>
      <p:sp>
        <p:nvSpPr>
          <p:cNvPr id="151" name="Google Shape;151;p16"/>
          <p:cNvSpPr/>
          <p:nvPr/>
        </p:nvSpPr>
        <p:spPr>
          <a:xfrm>
            <a:off x="575548" y="4095750"/>
            <a:ext cx="7992904" cy="6908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We begin with a comprehensive analysis of [CUSTOMER COMPANY NAME]'s current GTM processes to identify </a:t>
            </a:r>
            <a:r>
              <a:rPr b="1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key automation opportunities</a:t>
            </a: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. This phase includes collaborative workshops to define specific goals and tailor a strategic roadmap.</a:t>
            </a:r>
            <a:endParaRPr b="0" i="0" sz="1100" u="none" cap="none" strike="noStrike"/>
          </a:p>
        </p:txBody>
      </p:sp>
      <p:sp>
        <p:nvSpPr>
          <p:cNvPr id="152" name="Google Shape;152;p16"/>
          <p:cNvSpPr/>
          <p:nvPr/>
        </p:nvSpPr>
        <p:spPr>
          <a:xfrm>
            <a:off x="575548" y="4872871"/>
            <a:ext cx="7992904" cy="230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rPr b="1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Deliverable:</a:t>
            </a: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Detailed Automation Strategy &amp; Roadmap</a:t>
            </a:r>
            <a:endParaRPr b="0" i="0" sz="1100" u="none" cap="none" strike="noStrike"/>
          </a:p>
        </p:txBody>
      </p:sp>
      <p:sp>
        <p:nvSpPr>
          <p:cNvPr id="153" name="Google Shape;153;p16"/>
          <p:cNvSpPr/>
          <p:nvPr/>
        </p:nvSpPr>
        <p:spPr>
          <a:xfrm>
            <a:off x="575548" y="5153382"/>
            <a:ext cx="7992904" cy="230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rPr b="1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Timeline:</a:t>
            </a: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</a:t>
            </a:r>
            <a:r>
              <a:rPr b="1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[X] weeks</a:t>
            </a: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(e.g., 2 weeks)</a:t>
            </a:r>
            <a:endParaRPr b="0" i="0" sz="1100" u="none" cap="none" strike="noStrike"/>
          </a:p>
        </p:txBody>
      </p:sp>
      <p:sp>
        <p:nvSpPr>
          <p:cNvPr id="154" name="Google Shape;154;p16"/>
          <p:cNvSpPr/>
          <p:nvPr/>
        </p:nvSpPr>
        <p:spPr>
          <a:xfrm>
            <a:off x="575548" y="5635347"/>
            <a:ext cx="143828" cy="179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Crimson Pro"/>
              <a:buNone/>
            </a:pPr>
            <a:r>
              <a:rPr b="0" i="0" lang="en-US" sz="1100" u="none" cap="none" strike="noStrike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02</a:t>
            </a:r>
            <a:endParaRPr b="0" i="0" sz="1100" u="none" cap="none" strike="noStrike"/>
          </a:p>
        </p:txBody>
      </p:sp>
      <p:sp>
        <p:nvSpPr>
          <p:cNvPr id="155" name="Google Shape;155;p16"/>
          <p:cNvSpPr/>
          <p:nvPr/>
        </p:nvSpPr>
        <p:spPr>
          <a:xfrm>
            <a:off x="575548" y="5864543"/>
            <a:ext cx="7992904" cy="15240"/>
          </a:xfrm>
          <a:prstGeom prst="rect">
            <a:avLst/>
          </a:prstGeom>
          <a:solidFill>
            <a:srgbClr val="215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6"/>
          <p:cNvSpPr/>
          <p:nvPr/>
        </p:nvSpPr>
        <p:spPr>
          <a:xfrm>
            <a:off x="575548" y="5966936"/>
            <a:ext cx="3175278" cy="2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400"/>
              <a:buFont typeface="Crimson Pro"/>
              <a:buNone/>
            </a:pPr>
            <a:r>
              <a:rPr b="0" i="0" lang="en-US" sz="1400" u="none" cap="none" strike="noStrike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2. Custom Solution Design &amp; Development</a:t>
            </a:r>
            <a:endParaRPr b="0" i="0" sz="1400" u="none" cap="none" strike="noStrike"/>
          </a:p>
        </p:txBody>
      </p:sp>
      <p:sp>
        <p:nvSpPr>
          <p:cNvPr id="157" name="Google Shape;157;p16"/>
          <p:cNvSpPr/>
          <p:nvPr/>
        </p:nvSpPr>
        <p:spPr>
          <a:xfrm>
            <a:off x="575548" y="6278047"/>
            <a:ext cx="7992904" cy="460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Based on the approved strategy, our expert engineers will design and develop </a:t>
            </a:r>
            <a:r>
              <a:rPr b="1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bespoke automation solutions</a:t>
            </a: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, ensuring seamless integration with your existing tech stack (e.g., CRM, marketing automation platforms).</a:t>
            </a:r>
            <a:endParaRPr b="0" i="0" sz="1100" u="none" cap="none" strike="noStrike"/>
          </a:p>
        </p:txBody>
      </p:sp>
      <p:sp>
        <p:nvSpPr>
          <p:cNvPr id="158" name="Google Shape;158;p16"/>
          <p:cNvSpPr/>
          <p:nvPr/>
        </p:nvSpPr>
        <p:spPr>
          <a:xfrm>
            <a:off x="575548" y="6824901"/>
            <a:ext cx="7992904" cy="230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rPr b="1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Deliverable:</a:t>
            </a: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Bespoke Automation Platform/Tools</a:t>
            </a:r>
            <a:endParaRPr b="0" i="0" sz="1100" u="none" cap="none" strike="noStrike"/>
          </a:p>
        </p:txBody>
      </p:sp>
      <p:sp>
        <p:nvSpPr>
          <p:cNvPr id="159" name="Google Shape;159;p16"/>
          <p:cNvSpPr/>
          <p:nvPr/>
        </p:nvSpPr>
        <p:spPr>
          <a:xfrm>
            <a:off x="575548" y="7105412"/>
            <a:ext cx="7992904" cy="230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rPr b="1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Timeline:</a:t>
            </a: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</a:t>
            </a:r>
            <a:r>
              <a:rPr b="1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[Y] weeks</a:t>
            </a: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(e.g., 6-8 weeks)</a:t>
            </a:r>
            <a:endParaRPr b="0" i="0" sz="1100" u="none" cap="none" strike="noStrike"/>
          </a:p>
        </p:txBody>
      </p:sp>
      <p:sp>
        <p:nvSpPr>
          <p:cNvPr id="160" name="Google Shape;160;p16"/>
          <p:cNvSpPr/>
          <p:nvPr/>
        </p:nvSpPr>
        <p:spPr>
          <a:xfrm>
            <a:off x="575548" y="7587377"/>
            <a:ext cx="143828" cy="179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Crimson Pro"/>
              <a:buNone/>
            </a:pPr>
            <a:r>
              <a:rPr b="0" i="0" lang="en-US" sz="1100" u="none" cap="none" strike="noStrike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03</a:t>
            </a:r>
            <a:endParaRPr b="0" i="0" sz="1100" u="none" cap="none" strike="noStrike"/>
          </a:p>
        </p:txBody>
      </p:sp>
      <p:sp>
        <p:nvSpPr>
          <p:cNvPr id="161" name="Google Shape;161;p16"/>
          <p:cNvSpPr/>
          <p:nvPr/>
        </p:nvSpPr>
        <p:spPr>
          <a:xfrm>
            <a:off x="575548" y="7816572"/>
            <a:ext cx="7992904" cy="15240"/>
          </a:xfrm>
          <a:prstGeom prst="rect">
            <a:avLst/>
          </a:prstGeom>
          <a:solidFill>
            <a:srgbClr val="215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6"/>
          <p:cNvSpPr/>
          <p:nvPr/>
        </p:nvSpPr>
        <p:spPr>
          <a:xfrm>
            <a:off x="575548" y="7918966"/>
            <a:ext cx="2947749" cy="2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400"/>
              <a:buFont typeface="Crimson Pro"/>
              <a:buNone/>
            </a:pPr>
            <a:r>
              <a:rPr b="0" i="0" lang="en-US" sz="1400" u="none" cap="none" strike="noStrike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3. Implementation &amp; Team Enablement</a:t>
            </a:r>
            <a:endParaRPr b="0" i="0" sz="1400" u="none" cap="none" strike="noStrike"/>
          </a:p>
        </p:txBody>
      </p:sp>
      <p:sp>
        <p:nvSpPr>
          <p:cNvPr id="163" name="Google Shape;163;p16"/>
          <p:cNvSpPr/>
          <p:nvPr/>
        </p:nvSpPr>
        <p:spPr>
          <a:xfrm>
            <a:off x="575548" y="8230076"/>
            <a:ext cx="7992904" cy="460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We deploy the custom solutions, guaranteeing </a:t>
            </a:r>
            <a:r>
              <a:rPr b="1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proper functionality and robust data flow</a:t>
            </a: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. Comprehensive training is provided to your team to maximize adoption, efficiency, and long-term success.</a:t>
            </a:r>
            <a:endParaRPr b="0" i="0" sz="1100" u="none" cap="none" strike="noStrike"/>
          </a:p>
        </p:txBody>
      </p:sp>
      <p:sp>
        <p:nvSpPr>
          <p:cNvPr id="164" name="Google Shape;164;p16"/>
          <p:cNvSpPr/>
          <p:nvPr/>
        </p:nvSpPr>
        <p:spPr>
          <a:xfrm>
            <a:off x="575548" y="8776930"/>
            <a:ext cx="7992904" cy="230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rPr b="1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Deliverable:</a:t>
            </a: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Fully Operational Automation System, Team Training</a:t>
            </a:r>
            <a:endParaRPr b="0" i="0" sz="1100" u="none" cap="none" strike="noStrike"/>
          </a:p>
        </p:txBody>
      </p:sp>
      <p:sp>
        <p:nvSpPr>
          <p:cNvPr id="165" name="Google Shape;165;p16"/>
          <p:cNvSpPr/>
          <p:nvPr/>
        </p:nvSpPr>
        <p:spPr>
          <a:xfrm>
            <a:off x="575548" y="9057442"/>
            <a:ext cx="7992904" cy="230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rPr b="1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Timeline:</a:t>
            </a: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</a:t>
            </a:r>
            <a:r>
              <a:rPr b="1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[Z] weeks</a:t>
            </a: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(e.g., 2-3 weeks)</a:t>
            </a:r>
            <a:endParaRPr b="0" i="0" sz="1100" u="none" cap="none" strike="noStrike"/>
          </a:p>
        </p:txBody>
      </p:sp>
      <p:sp>
        <p:nvSpPr>
          <p:cNvPr id="166" name="Google Shape;166;p16"/>
          <p:cNvSpPr/>
          <p:nvPr/>
        </p:nvSpPr>
        <p:spPr>
          <a:xfrm>
            <a:off x="575548" y="9539407"/>
            <a:ext cx="143828" cy="179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Crimson Pro"/>
              <a:buNone/>
            </a:pPr>
            <a:r>
              <a:rPr b="0" i="0" lang="en-US" sz="1100" u="none" cap="none" strike="noStrike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04</a:t>
            </a:r>
            <a:endParaRPr b="0" i="0" sz="1100" u="none" cap="none" strike="noStrike"/>
          </a:p>
        </p:txBody>
      </p:sp>
      <p:sp>
        <p:nvSpPr>
          <p:cNvPr id="167" name="Google Shape;167;p16"/>
          <p:cNvSpPr/>
          <p:nvPr/>
        </p:nvSpPr>
        <p:spPr>
          <a:xfrm>
            <a:off x="575548" y="9768602"/>
            <a:ext cx="7992904" cy="15240"/>
          </a:xfrm>
          <a:prstGeom prst="rect">
            <a:avLst/>
          </a:prstGeom>
          <a:solidFill>
            <a:srgbClr val="215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6"/>
          <p:cNvSpPr/>
          <p:nvPr/>
        </p:nvSpPr>
        <p:spPr>
          <a:xfrm>
            <a:off x="575548" y="9870996"/>
            <a:ext cx="2940487" cy="2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400"/>
              <a:buFont typeface="Crimson Pro"/>
              <a:buNone/>
            </a:pPr>
            <a:r>
              <a:rPr b="0" i="0" lang="en-US" sz="1400" u="none" cap="none" strike="noStrike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4. Optimization &amp; Ongoing Partnership</a:t>
            </a:r>
            <a:endParaRPr b="0" i="0" sz="1400" u="none" cap="none" strike="noStrike"/>
          </a:p>
        </p:txBody>
      </p:sp>
      <p:sp>
        <p:nvSpPr>
          <p:cNvPr id="169" name="Google Shape;169;p16"/>
          <p:cNvSpPr/>
          <p:nvPr/>
        </p:nvSpPr>
        <p:spPr>
          <a:xfrm>
            <a:off x="575548" y="10182106"/>
            <a:ext cx="7992904" cy="460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Post-implementation, we monitor performance, gather crucial feedback, and provide </a:t>
            </a:r>
            <a:r>
              <a:rPr b="1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continuous optimization and support</a:t>
            </a: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to ensure sustained growth and agile adaptation to evolving market needs.</a:t>
            </a:r>
            <a:endParaRPr b="0" i="0" sz="1100" u="none" cap="none" strike="noStrike"/>
          </a:p>
        </p:txBody>
      </p:sp>
      <p:sp>
        <p:nvSpPr>
          <p:cNvPr id="170" name="Google Shape;170;p16"/>
          <p:cNvSpPr/>
          <p:nvPr/>
        </p:nvSpPr>
        <p:spPr>
          <a:xfrm>
            <a:off x="575548" y="10728960"/>
            <a:ext cx="7992904" cy="230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rPr b="1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Deliverable:</a:t>
            </a: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Performance Reports, Ongoing Support &amp; Iteration</a:t>
            </a:r>
            <a:endParaRPr b="0" i="0" sz="1100" u="none" cap="none" strike="noStrike"/>
          </a:p>
        </p:txBody>
      </p:sp>
      <p:sp>
        <p:nvSpPr>
          <p:cNvPr id="171" name="Google Shape;171;p16"/>
          <p:cNvSpPr/>
          <p:nvPr/>
        </p:nvSpPr>
        <p:spPr>
          <a:xfrm>
            <a:off x="575548" y="11009471"/>
            <a:ext cx="7992904" cy="230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rPr b="1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Timeline:</a:t>
            </a: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Ongoing (e.g., Quarterly Reviews)</a:t>
            </a:r>
            <a:endParaRPr b="0" i="0" sz="1100" u="none" cap="none" strike="noStrike"/>
          </a:p>
        </p:txBody>
      </p:sp>
      <p:sp>
        <p:nvSpPr>
          <p:cNvPr id="172" name="Google Shape;172;p16"/>
          <p:cNvSpPr/>
          <p:nvPr/>
        </p:nvSpPr>
        <p:spPr>
          <a:xfrm>
            <a:off x="575548" y="11509415"/>
            <a:ext cx="7992904" cy="460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We are confident this partnership will unlock </a:t>
            </a:r>
            <a:r>
              <a:rPr b="1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significant efficiencies and accelerated revenue growth</a:t>
            </a: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for [CUSTOMER COMPANY NAME]. For complete details on pricing and terms, please review the full proposal document.</a:t>
            </a:r>
            <a:endParaRPr b="0" i="0" sz="1100" u="none" cap="none" strike="noStrike"/>
          </a:p>
        </p:txBody>
      </p:sp>
      <p:pic>
        <p:nvPicPr>
          <p:cNvPr descr="preencoded.png" id="173" name="Google Shape;173;p16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5548" y="12131754"/>
            <a:ext cx="1952149" cy="3956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4" name="Google Shape;174;p16">
            <a:hlinkClick r:id="rId6"/>
          </p:cNvPr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99611" y="12131754"/>
            <a:ext cx="2422565" cy="3956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