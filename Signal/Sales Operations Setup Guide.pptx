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Roboto"/>
      <p:bold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Acr8vSt8AUuYVMGsMTgARZ8l6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0378844" y="0"/>
            <a:ext cx="6880456" cy="8234363"/>
          </a:xfrm>
          <a:custGeom>
            <a:rect b="b" l="l" r="r" t="t"/>
            <a:pathLst>
              <a:path extrusionOk="0" h="8234363" w="6880456">
                <a:moveTo>
                  <a:pt x="0" y="0"/>
                </a:moveTo>
                <a:lnTo>
                  <a:pt x="6880456" y="0"/>
                </a:lnTo>
                <a:lnTo>
                  <a:pt x="6880456" y="8234363"/>
                </a:lnTo>
                <a:lnTo>
                  <a:pt x="0" y="8234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815" r="-39815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526323" y="3272021"/>
            <a:ext cx="8852521" cy="3424238"/>
            <a:chOff x="0" y="-19050"/>
            <a:chExt cx="11803361" cy="4565650"/>
          </a:xfrm>
        </p:grpSpPr>
        <p:sp>
          <p:nvSpPr>
            <p:cNvPr id="86" name="Google Shape;86;p1"/>
            <p:cNvSpPr txBox="1"/>
            <p:nvPr/>
          </p:nvSpPr>
          <p:spPr>
            <a:xfrm>
              <a:off x="0" y="-19050"/>
              <a:ext cx="11803361" cy="286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000" u="none" cap="none" strike="noStrike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Sales Operations Setup Guide</a:t>
              </a: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2844800"/>
              <a:ext cx="11437244" cy="17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199" u="none" cap="none" strike="noStrike">
                  <a:solidFill>
                    <a:srgbClr val="1A1A1A"/>
                  </a:solidFill>
                  <a:latin typeface="Open Sans"/>
                  <a:ea typeface="Open Sans"/>
                  <a:cs typeface="Open Sans"/>
                  <a:sym typeface="Open Sans"/>
                </a:rPr>
                <a:t>RevEnabled | revenabled.com</a:t>
              </a:r>
              <a:endParaRPr/>
            </a:p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4199" u="none" cap="none" strike="noStrike">
                  <a:solidFill>
                    <a:srgbClr val="1A1A1A"/>
                  </a:solidFill>
                  <a:latin typeface="Open Sans"/>
                  <a:ea typeface="Open Sans"/>
                  <a:cs typeface="Open Sans"/>
                  <a:sym typeface="Open Sans"/>
                </a:rPr>
                <a:t>A Sales Automation Agency</a:t>
              </a:r>
              <a:endParaRPr/>
            </a:p>
          </p:txBody>
        </p:sp>
      </p:grpSp>
      <p:cxnSp>
        <p:nvCxnSpPr>
          <p:cNvPr id="88" name="Google Shape;88;p1"/>
          <p:cNvCxnSpPr/>
          <p:nvPr/>
        </p:nvCxnSpPr>
        <p:spPr>
          <a:xfrm>
            <a:off x="-1817224" y="8949103"/>
            <a:ext cx="20105224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 rot="-5400000">
            <a:off x="-3441089" y="4469789"/>
            <a:ext cx="8949103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2887736" y="3686175"/>
            <a:ext cx="13984359" cy="290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The purpose of this guide is to direct any owner, executive, or team member of an organization on how to set up and implement a sales operations strategy and technical stack to empower revenue enablement.</a:t>
            </a:r>
            <a:endParaRPr/>
          </a:p>
        </p:txBody>
      </p:sp>
      <p:cxnSp>
        <p:nvCxnSpPr>
          <p:cNvPr id="95" name="Google Shape;95;p2"/>
          <p:cNvCxnSpPr/>
          <p:nvPr/>
        </p:nvCxnSpPr>
        <p:spPr>
          <a:xfrm>
            <a:off x="-1362918" y="8949103"/>
            <a:ext cx="20105224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2"/>
          <p:cNvCxnSpPr/>
          <p:nvPr/>
        </p:nvCxnSpPr>
        <p:spPr>
          <a:xfrm rot="-5400000">
            <a:off x="-2228311" y="4469789"/>
            <a:ext cx="8949103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"/>
          <p:cNvSpPr txBox="1"/>
          <p:nvPr/>
        </p:nvSpPr>
        <p:spPr>
          <a:xfrm>
            <a:off x="2887736" y="1884392"/>
            <a:ext cx="4426387" cy="1443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1028700" y="1028700"/>
            <a:ext cx="6741217" cy="8229600"/>
          </a:xfrm>
          <a:custGeom>
            <a:rect b="b" l="l" r="r" t="t"/>
            <a:pathLst>
              <a:path extrusionOk="0" h="8229600" w="6741217">
                <a:moveTo>
                  <a:pt x="0" y="0"/>
                </a:moveTo>
                <a:lnTo>
                  <a:pt x="6741217" y="0"/>
                </a:lnTo>
                <a:lnTo>
                  <a:pt x="674121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444" r="-41444" t="0"/>
            </a:stretch>
          </a:blipFill>
          <a:ln>
            <a:noFill/>
          </a:ln>
        </p:spPr>
      </p:sp>
      <p:sp>
        <p:nvSpPr>
          <p:cNvPr id="103" name="Google Shape;103;p3"/>
          <p:cNvSpPr txBox="1"/>
          <p:nvPr/>
        </p:nvSpPr>
        <p:spPr>
          <a:xfrm>
            <a:off x="8115300" y="3702425"/>
            <a:ext cx="9144000" cy="5034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3390" lvl="1" marL="90678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Open Sans"/>
              <a:buAutoNum type="arabicPeriod"/>
            </a:pPr>
            <a:r>
              <a:rPr b="0" i="0" lang="en-US" sz="420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Create Sales Playbook</a:t>
            </a:r>
            <a:endParaRPr/>
          </a:p>
          <a:p>
            <a:pPr indent="-453390" lvl="1" marL="90678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Open Sans"/>
              <a:buAutoNum type="arabicPeriod"/>
            </a:pPr>
            <a:r>
              <a:rPr b="0" i="0" lang="en-US" sz="420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Draft Sales Messaging</a:t>
            </a:r>
            <a:endParaRPr/>
          </a:p>
          <a:p>
            <a:pPr indent="-453390" lvl="1" marL="90678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Open Sans"/>
              <a:buAutoNum type="arabicPeriod"/>
            </a:pPr>
            <a:r>
              <a:rPr b="0" i="0" lang="en-US" sz="420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Generate Prospect Data</a:t>
            </a:r>
            <a:endParaRPr/>
          </a:p>
          <a:p>
            <a:pPr indent="-453390" lvl="1" marL="90678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Open Sans"/>
              <a:buAutoNum type="arabicPeriod"/>
            </a:pPr>
            <a:r>
              <a:rPr b="0" i="0" lang="en-US" sz="420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Configure Email DNS</a:t>
            </a:r>
            <a:endParaRPr/>
          </a:p>
          <a:p>
            <a:pPr indent="-453390" lvl="1" marL="90678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Open Sans"/>
              <a:buAutoNum type="arabicPeriod"/>
            </a:pPr>
            <a:r>
              <a:rPr b="0" i="0" lang="en-US" sz="420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Setup CRM Platform</a:t>
            </a:r>
            <a:endParaRPr/>
          </a:p>
          <a:p>
            <a:pPr indent="-453390" lvl="1" marL="90678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Open Sans"/>
              <a:buAutoNum type="arabicPeriod"/>
            </a:pPr>
            <a:r>
              <a:rPr b="0" i="0" lang="en-US" sz="420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Develop Automation System</a:t>
            </a:r>
            <a:endParaRPr/>
          </a:p>
        </p:txBody>
      </p:sp>
      <p:grpSp>
        <p:nvGrpSpPr>
          <p:cNvPr id="104" name="Google Shape;104;p3"/>
          <p:cNvGrpSpPr/>
          <p:nvPr/>
        </p:nvGrpSpPr>
        <p:grpSpPr>
          <a:xfrm>
            <a:off x="8115300" y="1821963"/>
            <a:ext cx="7525111" cy="1695444"/>
            <a:chOff x="0" y="152400"/>
            <a:chExt cx="10033481" cy="2260592"/>
          </a:xfrm>
        </p:grpSpPr>
        <p:sp>
          <p:nvSpPr>
            <p:cNvPr id="105" name="Google Shape;105;p3"/>
            <p:cNvSpPr txBox="1"/>
            <p:nvPr/>
          </p:nvSpPr>
          <p:spPr>
            <a:xfrm>
              <a:off x="0" y="152400"/>
              <a:ext cx="10033481" cy="1541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399" u="none" cap="none" strike="noStrike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Process</a:t>
              </a:r>
              <a:endParaRPr/>
            </a:p>
          </p:txBody>
        </p:sp>
        <p:sp>
          <p:nvSpPr>
            <p:cNvPr id="106" name="Google Shape;106;p3"/>
            <p:cNvSpPr txBox="1"/>
            <p:nvPr/>
          </p:nvSpPr>
          <p:spPr>
            <a:xfrm>
              <a:off x="0" y="1770372"/>
              <a:ext cx="5876766" cy="642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3599" u="none" cap="none" strike="noStrike">
                  <a:solidFill>
                    <a:srgbClr val="1A1A1A"/>
                  </a:solidFill>
                  <a:latin typeface="Open Sans"/>
                  <a:ea typeface="Open Sans"/>
                  <a:cs typeface="Open Sans"/>
                  <a:sym typeface="Open Sans"/>
                </a:rPr>
                <a:t>The steps involved are: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9396791" y="1633538"/>
            <a:ext cx="8474218" cy="701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Establish brand identity, unique selling propositions and target customers.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99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Create sales goals, key performance indicators (KPIs) and activity metrics.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99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Identify key processes, platforms and people involved in the sales funnel.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028700" y="4079240"/>
            <a:ext cx="7486516" cy="2290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Create Sales Playbook</a:t>
            </a:r>
            <a:endParaRPr/>
          </a:p>
        </p:txBody>
      </p:sp>
      <p:cxnSp>
        <p:nvCxnSpPr>
          <p:cNvPr id="113" name="Google Shape;113;p4"/>
          <p:cNvCxnSpPr/>
          <p:nvPr/>
        </p:nvCxnSpPr>
        <p:spPr>
          <a:xfrm rot="-5400000">
            <a:off x="4000500" y="5138738"/>
            <a:ext cx="10287000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/>
        </p:nvSpPr>
        <p:spPr>
          <a:xfrm>
            <a:off x="9396791" y="1633538"/>
            <a:ext cx="8474218" cy="701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Write scripts for email, phone, SMS and social media DM outreach.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99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Create sales assets for presentations, case studies and pricing/services.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99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Develop standard operating procedures (S.O.P.s) for internal/external use.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1028700" y="4079240"/>
            <a:ext cx="7486516" cy="2290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Draft Sales Messaging</a:t>
            </a:r>
            <a:endParaRPr/>
          </a:p>
        </p:txBody>
      </p:sp>
      <p:cxnSp>
        <p:nvCxnSpPr>
          <p:cNvPr id="120" name="Google Shape;120;p5"/>
          <p:cNvCxnSpPr/>
          <p:nvPr/>
        </p:nvCxnSpPr>
        <p:spPr>
          <a:xfrm rot="-5400000">
            <a:off x="4000500" y="5138738"/>
            <a:ext cx="10287000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/>
        </p:nvSpPr>
        <p:spPr>
          <a:xfrm>
            <a:off x="9396791" y="1633538"/>
            <a:ext cx="8474218" cy="701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Set up or integrate a lead generation system (tools, APIs, scraping).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99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Download contact information for your Ideal Customer Profiles (ICPs).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99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Use AI to create research insights for each company and prospect.</a:t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1028700" y="4079240"/>
            <a:ext cx="7486516" cy="2290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Generate Prospect Data</a:t>
            </a:r>
            <a:endParaRPr/>
          </a:p>
        </p:txBody>
      </p:sp>
      <p:cxnSp>
        <p:nvCxnSpPr>
          <p:cNvPr id="127" name="Google Shape;127;p6"/>
          <p:cNvCxnSpPr/>
          <p:nvPr/>
        </p:nvCxnSpPr>
        <p:spPr>
          <a:xfrm rot="-5400000">
            <a:off x="4000500" y="5138738"/>
            <a:ext cx="10287000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/>
        </p:nvSpPr>
        <p:spPr>
          <a:xfrm>
            <a:off x="9396791" y="1633538"/>
            <a:ext cx="8474218" cy="701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Purchase a new domain or use a sub domain for email outreach.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99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Configure DNS records (DMARC, DKIM, SPF) to ensure deliverability.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99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Warm up email address of new domain to maintain optimal mailbox health.</a:t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1028700" y="4079240"/>
            <a:ext cx="7486516" cy="2290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Configure Email DNS</a:t>
            </a:r>
            <a:endParaRPr/>
          </a:p>
        </p:txBody>
      </p:sp>
      <p:cxnSp>
        <p:nvCxnSpPr>
          <p:cNvPr id="134" name="Google Shape;134;p7"/>
          <p:cNvCxnSpPr/>
          <p:nvPr/>
        </p:nvCxnSpPr>
        <p:spPr>
          <a:xfrm rot="-5400000">
            <a:off x="4000500" y="5138738"/>
            <a:ext cx="10287000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/>
        </p:nvSpPr>
        <p:spPr>
          <a:xfrm>
            <a:off x="9396791" y="1633538"/>
            <a:ext cx="8474218" cy="701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Select and set up a CRM tool, or integrate with your existing subscription.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99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Define categories (accounts, contacts) and configure property structures.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99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Integrate email, import contacts and upload files (assets, templates, etc).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1028700" y="4079240"/>
            <a:ext cx="7486516" cy="2290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Setup CRM Platform</a:t>
            </a:r>
            <a:endParaRPr/>
          </a:p>
        </p:txBody>
      </p:sp>
      <p:cxnSp>
        <p:nvCxnSpPr>
          <p:cNvPr id="141" name="Google Shape;141;p8"/>
          <p:cNvCxnSpPr/>
          <p:nvPr/>
        </p:nvCxnSpPr>
        <p:spPr>
          <a:xfrm rot="-5400000">
            <a:off x="4000500" y="5138738"/>
            <a:ext cx="10287000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/>
        </p:nvSpPr>
        <p:spPr>
          <a:xfrm>
            <a:off x="9396791" y="1633538"/>
            <a:ext cx="8474218" cy="701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Select and set up an outreach automation system or integrate existing. 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99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Define core channels (email, phone, etc) and configure sequence steps.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99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87" lvl="1" marL="906774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199"/>
              <a:buFont typeface="Arial"/>
              <a:buChar char="•"/>
            </a:pPr>
            <a:r>
              <a:rPr b="0" i="0" lang="en-US" sz="4199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Integrate with CRM and customize tracking and reporting dashboard.</a:t>
            </a:r>
            <a:endParaRPr/>
          </a:p>
        </p:txBody>
      </p:sp>
      <p:sp>
        <p:nvSpPr>
          <p:cNvPr id="147" name="Google Shape;147;p9"/>
          <p:cNvSpPr txBox="1"/>
          <p:nvPr/>
        </p:nvSpPr>
        <p:spPr>
          <a:xfrm>
            <a:off x="1028700" y="3522028"/>
            <a:ext cx="7486516" cy="3404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Develop Automation System</a:t>
            </a:r>
            <a:endParaRPr/>
          </a:p>
        </p:txBody>
      </p:sp>
      <p:cxnSp>
        <p:nvCxnSpPr>
          <p:cNvPr id="148" name="Google Shape;148;p9"/>
          <p:cNvCxnSpPr/>
          <p:nvPr/>
        </p:nvCxnSpPr>
        <p:spPr>
          <a:xfrm rot="-5400000">
            <a:off x="4000500" y="5138738"/>
            <a:ext cx="10287000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/>
        </p:nvSpPr>
        <p:spPr>
          <a:xfrm>
            <a:off x="1028700" y="3391562"/>
            <a:ext cx="16768901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And there you have it! With these steps you can set up a sales operations system and develop predictable revenue for your organization. Be sure to have an action plan, messaging templates, prospect data, healthy mailbox, CRM platform and automation.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1A1A1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To contact RevEnabled Sales Agency to set it up for you, email </a:t>
            </a:r>
            <a:r>
              <a:rPr b="1" i="0" lang="en-US" sz="420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pat@revenabled.com.</a:t>
            </a:r>
            <a:endParaRPr/>
          </a:p>
        </p:txBody>
      </p:sp>
      <p:cxnSp>
        <p:nvCxnSpPr>
          <p:cNvPr id="154" name="Google Shape;154;p10"/>
          <p:cNvCxnSpPr/>
          <p:nvPr/>
        </p:nvCxnSpPr>
        <p:spPr>
          <a:xfrm>
            <a:off x="-1362918" y="8949103"/>
            <a:ext cx="20105224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0"/>
          <p:cNvSpPr txBox="1"/>
          <p:nvPr/>
        </p:nvSpPr>
        <p:spPr>
          <a:xfrm>
            <a:off x="1219378" y="1512520"/>
            <a:ext cx="4605457" cy="1443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Summary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