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4672" y="2000166"/>
            <a:ext cx="11448288" cy="344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1"/>
              </a:lnSpc>
            </a:pPr>
            <a:r>
              <a:rPr lang="en-US" sz="8901" spc="-35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SalesGen</a:t>
            </a:r>
            <a:r>
              <a:rPr lang="en-US" b="true" sz="8901" spc="-35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cy:</a:t>
            </a:r>
            <a:r>
              <a:rPr lang="en-US" b="true" sz="8901" spc="-35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8901"/>
              </a:lnSpc>
            </a:pPr>
            <a:r>
              <a:rPr lang="en-US" b="true" sz="8901" spc="-35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Your Go-to-Market</a:t>
            </a:r>
          </a:p>
          <a:p>
            <a:pPr algn="l">
              <a:lnSpc>
                <a:spcPts val="8901"/>
              </a:lnSpc>
            </a:pPr>
            <a:r>
              <a:rPr lang="en-US" b="true" sz="8901" spc="-35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&amp; Automation Agency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5572125"/>
            <a:ext cx="1533525" cy="428625"/>
          </a:xfrm>
          <a:custGeom>
            <a:avLst/>
            <a:gdLst/>
            <a:ahLst/>
            <a:cxnLst/>
            <a:rect r="r" b="b" t="t" l="l"/>
            <a:pathLst>
              <a:path h="428625" w="1533525">
                <a:moveTo>
                  <a:pt x="0" y="0"/>
                </a:moveTo>
                <a:lnTo>
                  <a:pt x="1533525" y="0"/>
                </a:lnTo>
                <a:lnTo>
                  <a:pt x="1533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4672" y="6401086"/>
            <a:ext cx="6986016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Automating outbound &amp; inbound</a:t>
            </a:r>
          </a:p>
          <a:p>
            <a:pPr algn="l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motions from ICP to booked meetings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672" y="8049601"/>
            <a:ext cx="3328416" cy="41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spc="118">
                <a:solidFill>
                  <a:srgbClr val="FF6600"/>
                </a:solidFill>
                <a:latin typeface="Roboto"/>
                <a:ea typeface="Roboto"/>
                <a:cs typeface="Roboto"/>
                <a:sym typeface="Roboto"/>
              </a:rPr>
              <a:t>SEPTEMBER 8,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3550" y="0"/>
            <a:ext cx="8934450" cy="10287000"/>
          </a:xfrm>
          <a:custGeom>
            <a:avLst/>
            <a:gdLst/>
            <a:ahLst/>
            <a:cxnLst/>
            <a:rect r="r" b="b" t="t" l="l"/>
            <a:pathLst>
              <a:path h="10287000" w="8934450">
                <a:moveTo>
                  <a:pt x="0" y="0"/>
                </a:moveTo>
                <a:lnTo>
                  <a:pt x="8934450" y="0"/>
                </a:lnTo>
                <a:lnTo>
                  <a:pt x="8934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824442"/>
            <a:ext cx="9052560" cy="284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8"/>
              </a:lnSpc>
            </a:pPr>
            <a:r>
              <a:rPr lang="en-US" sz="7398" spc="-14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What is the Prospect Automation Engine (PAE)?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8096" y="3902327"/>
            <a:ext cx="6309360" cy="9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SalesGen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cy’s flagship outb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ound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sales pipeline automation system.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5143500"/>
            <a:ext cx="228600" cy="3219450"/>
          </a:xfrm>
          <a:custGeom>
            <a:avLst/>
            <a:gdLst/>
            <a:ahLst/>
            <a:cxnLst/>
            <a:rect r="r" b="b" t="t" l="l"/>
            <a:pathLst>
              <a:path h="3219450" w="228600">
                <a:moveTo>
                  <a:pt x="0" y="0"/>
                </a:moveTo>
                <a:lnTo>
                  <a:pt x="228600" y="0"/>
                </a:lnTo>
                <a:lnTo>
                  <a:pt x="228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8992" y="5296174"/>
            <a:ext cx="3657600" cy="35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 b="true">
                <a:solidFill>
                  <a:srgbClr val="FF6D4D"/>
                </a:solidFill>
                <a:latin typeface="Roboto Bold"/>
                <a:ea typeface="Roboto Bold"/>
                <a:cs typeface="Roboto Bold"/>
                <a:sym typeface="Roboto Bold"/>
              </a:rPr>
              <a:t>BUILT ON FIVE CORE PILLARS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8353425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8096" y="8721840"/>
            <a:ext cx="6309360" cy="86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48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Fully automated, personalized outreach—</a:t>
            </a:r>
            <a:r>
              <a:rPr lang="en-US" sz="2489">
                <a:solidFill>
                  <a:srgbClr val="FF6D4D"/>
                </a:solidFill>
                <a:latin typeface="Roboto"/>
                <a:ea typeface="Roboto"/>
                <a:cs typeface="Roboto"/>
                <a:sym typeface="Roboto"/>
              </a:rPr>
              <a:t>no manual steps.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992" y="5715441"/>
            <a:ext cx="3621024" cy="249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Trigger &amp; Ingest</a:t>
            </a:r>
          </a:p>
          <a:p>
            <a:pPr algn="l">
              <a:lnSpc>
                <a:spcPts val="4032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CRM Dedupe Shield</a:t>
            </a:r>
          </a:p>
          <a:p>
            <a:pPr algn="l">
              <a:lnSpc>
                <a:spcPts val="4032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 Reveal</a:t>
            </a:r>
          </a:p>
          <a:p>
            <a:pPr algn="l">
              <a:lnSpc>
                <a:spcPts val="4032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Research &amp; Copywriting</a:t>
            </a:r>
          </a:p>
          <a:p>
            <a:pPr algn="l">
              <a:lnSpc>
                <a:spcPts val="4032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Sequence Enrollment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1054842"/>
            <a:ext cx="12691872" cy="131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5066" spc="-20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How SalesGen</a:t>
            </a:r>
            <a:r>
              <a:rPr lang="en-US" b="true" sz="5066" spc="-20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cy Automates Your Go-to-Market Motion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2914263"/>
            <a:ext cx="12545568" cy="44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5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Five</a:t>
            </a:r>
            <a:r>
              <a:rPr lang="en-US" sz="25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pillars. One engine. From ideal prospect to booked meeting—without manual steps.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3885777"/>
            <a:ext cx="731520" cy="71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8"/>
              </a:lnSpc>
            </a:pPr>
            <a:r>
              <a:rPr lang="en-US" sz="5388" spc="-215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90775" y="4067175"/>
            <a:ext cx="1533525" cy="438150"/>
          </a:xfrm>
          <a:custGeom>
            <a:avLst/>
            <a:gdLst/>
            <a:ahLst/>
            <a:cxnLst/>
            <a:rect r="r" b="b" t="t" l="l"/>
            <a:pathLst>
              <a:path h="438150" w="1533525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1520" y="4817293"/>
            <a:ext cx="2523744" cy="399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TRIGGER &amp; INGEST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535305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1520" y="5568773"/>
            <a:ext cx="2523744" cy="1190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Capture ICP signals in real time and enrich instantly.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42816" y="3849701"/>
            <a:ext cx="877824" cy="79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8"/>
              </a:lnSpc>
            </a:pPr>
            <a:r>
              <a:rPr lang="en-US" sz="5978" spc="-239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305550" y="406717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42816" y="4817293"/>
            <a:ext cx="2962656" cy="399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QUALIFY &amp; RESEARCH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133850" y="535305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42816" y="5572851"/>
            <a:ext cx="2706624" cy="11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Score fit and intent. AI research builds personalized context.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54112" y="3849701"/>
            <a:ext cx="877824" cy="79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8"/>
              </a:lnSpc>
            </a:pPr>
            <a:r>
              <a:rPr lang="en-US" sz="5978" spc="-239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791700" y="406717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54112" y="4817650"/>
            <a:ext cx="2779776" cy="39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ENGAGE &amp; NURTURE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620000" y="5353050"/>
            <a:ext cx="3048000" cy="219075"/>
          </a:xfrm>
          <a:custGeom>
            <a:avLst/>
            <a:gdLst/>
            <a:ahLst/>
            <a:cxnLst/>
            <a:rect r="r" b="b" t="t" l="l"/>
            <a:pathLst>
              <a:path h="219075" w="3048000">
                <a:moveTo>
                  <a:pt x="0" y="0"/>
                </a:moveTo>
                <a:lnTo>
                  <a:pt x="3048000" y="0"/>
                </a:lnTo>
                <a:lnTo>
                  <a:pt x="304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754112" y="5572851"/>
            <a:ext cx="2889504" cy="11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Multi-channel outreach that adapts to replies and behavior.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65408" y="3849701"/>
            <a:ext cx="932688" cy="79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8"/>
              </a:lnSpc>
            </a:pPr>
            <a:r>
              <a:rPr lang="en-US" sz="5978" spc="-239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496925" y="4067175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096625" y="535305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265408" y="5572851"/>
            <a:ext cx="2816352" cy="117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Surface warm signals and route to the right seller at the right time.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76704" y="3849701"/>
            <a:ext cx="877824" cy="79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8"/>
              </a:lnSpc>
            </a:pPr>
            <a:r>
              <a:rPr lang="en-US" sz="5978" spc="-239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582775" y="535305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776704" y="5609924"/>
            <a:ext cx="2816352" cy="110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1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Seamless handoff and meeting booked—ready to close.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47700" y="7286625"/>
            <a:ext cx="16992600" cy="2362200"/>
          </a:xfrm>
          <a:custGeom>
            <a:avLst/>
            <a:gdLst/>
            <a:ahLst/>
            <a:cxnLst/>
            <a:rect r="r" b="b" t="t" l="l"/>
            <a:pathLst>
              <a:path h="2362200" w="16992600">
                <a:moveTo>
                  <a:pt x="0" y="0"/>
                </a:moveTo>
                <a:lnTo>
                  <a:pt x="16992600" y="0"/>
                </a:lnTo>
                <a:lnTo>
                  <a:pt x="16992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43584" y="7880601"/>
            <a:ext cx="731520" cy="52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b="true" sz="3915" spc="-15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ICP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3584" y="8428327"/>
            <a:ext cx="1719072" cy="66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19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Ideal Customer Profile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048000" y="7924800"/>
            <a:ext cx="2619375" cy="1076325"/>
          </a:xfrm>
          <a:custGeom>
            <a:avLst/>
            <a:gdLst/>
            <a:ahLst/>
            <a:cxnLst/>
            <a:rect r="r" b="b" t="t" l="l"/>
            <a:pathLst>
              <a:path h="1076325" w="261937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833872" y="7824651"/>
            <a:ext cx="6986016" cy="46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4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AUTOMATED. PERSONALIZED. CONSISTENT.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33872" y="8404640"/>
            <a:ext cx="7351776" cy="75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 step working together—so you reach more prospects and book more meetings.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277850" y="8143875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142464" y="7638288"/>
            <a:ext cx="1975104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b="true" sz="3676" spc="-14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BOOKED CLIENT MEETING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65408" y="4813244"/>
            <a:ext cx="2359152" cy="40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REVEAL &amp; ROUTE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76704" y="4817650"/>
            <a:ext cx="2670048" cy="39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15A29"/>
                </a:solidFill>
                <a:latin typeface="Roboto Bold"/>
                <a:ea typeface="Roboto Bold"/>
                <a:cs typeface="Roboto Bold"/>
                <a:sym typeface="Roboto Bold"/>
              </a:rPr>
              <a:t>SCHEDULE &amp; CLOSE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5700" y="0"/>
            <a:ext cx="6972300" cy="10287000"/>
          </a:xfrm>
          <a:custGeom>
            <a:avLst/>
            <a:gdLst/>
            <a:ahLst/>
            <a:cxnLst/>
            <a:rect r="r" b="b" t="t" l="l"/>
            <a:pathLst>
              <a:path h="10287000" w="6972300">
                <a:moveTo>
                  <a:pt x="0" y="0"/>
                </a:moveTo>
                <a:lnTo>
                  <a:pt x="6972300" y="0"/>
                </a:lnTo>
                <a:lnTo>
                  <a:pt x="6972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3776" y="665113"/>
            <a:ext cx="10241280" cy="15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8"/>
              </a:lnSpc>
            </a:pPr>
            <a:r>
              <a:rPr lang="en-US" sz="5978" spc="-11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Product 1 —</a:t>
            </a:r>
          </a:p>
          <a:p>
            <a:pPr algn="l">
              <a:lnSpc>
                <a:spcPts val="5978"/>
              </a:lnSpc>
            </a:pPr>
            <a:r>
              <a:rPr lang="en-US" sz="5978" spc="-11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 Workflow Engagement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3776" y="2408111"/>
            <a:ext cx="857707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593" spc="-5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Full-service, tailored automation build for revenue teams.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3209925"/>
            <a:ext cx="10458450" cy="219075"/>
          </a:xfrm>
          <a:custGeom>
            <a:avLst/>
            <a:gdLst/>
            <a:ahLst/>
            <a:cxnLst/>
            <a:rect r="r" b="b" t="t" l="l"/>
            <a:pathLst>
              <a:path h="219075" w="10458450">
                <a:moveTo>
                  <a:pt x="0" y="0"/>
                </a:moveTo>
                <a:lnTo>
                  <a:pt x="10458450" y="0"/>
                </a:lnTo>
                <a:lnTo>
                  <a:pt x="1045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3776" y="3632454"/>
            <a:ext cx="14081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b="true" sz="1762" spc="-35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FROM INTAKE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3776" y="4002786"/>
            <a:ext cx="122529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spc="-6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Intake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71700" y="4067175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78224" y="3632454"/>
            <a:ext cx="100584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b="true" sz="1762" spc="-35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TO BUILD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78224" y="4002786"/>
            <a:ext cx="98755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spc="-6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Build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657850" y="4067175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33488" y="3632454"/>
            <a:ext cx="13533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b="true" sz="1762" spc="-35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TO DELIVERY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33488" y="3990594"/>
            <a:ext cx="237744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 spc="-6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Credentials &amp; Final delivery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28625" y="5143500"/>
            <a:ext cx="10458450" cy="219075"/>
          </a:xfrm>
          <a:custGeom>
            <a:avLst/>
            <a:gdLst/>
            <a:ahLst/>
            <a:cxnLst/>
            <a:rect r="r" b="b" t="t" l="l"/>
            <a:pathLst>
              <a:path h="219075" w="10458450">
                <a:moveTo>
                  <a:pt x="0" y="0"/>
                </a:moveTo>
                <a:lnTo>
                  <a:pt x="10458450" y="0"/>
                </a:lnTo>
                <a:lnTo>
                  <a:pt x="1045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3776" y="5566410"/>
            <a:ext cx="18470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b="true" sz="1762" spc="-35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TRIGEER OPTIONS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99232" y="5566410"/>
            <a:ext cx="21031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b="true" sz="1762" spc="-35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AUTOMATION TYPES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07024" y="5566410"/>
            <a:ext cx="153619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b="true" sz="1762" spc="-35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23376" y="5571172"/>
            <a:ext cx="9326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b="true" sz="1687" spc="-33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TIMELINE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28625" y="7924800"/>
            <a:ext cx="10458450" cy="219075"/>
          </a:xfrm>
          <a:custGeom>
            <a:avLst/>
            <a:gdLst/>
            <a:ahLst/>
            <a:cxnLst/>
            <a:rect r="r" b="b" t="t" l="l"/>
            <a:pathLst>
              <a:path h="219075" w="10458450">
                <a:moveTo>
                  <a:pt x="0" y="0"/>
                </a:moveTo>
                <a:lnTo>
                  <a:pt x="10458450" y="0"/>
                </a:lnTo>
                <a:lnTo>
                  <a:pt x="1045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93776" y="8399336"/>
            <a:ext cx="133502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b="true" sz="1725" spc="-34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INVESTMENT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8640" y="8799385"/>
            <a:ext cx="193852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4767" spc="-95" b="true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$5,000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8640" y="9557766"/>
            <a:ext cx="12435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3-day sprint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048000" y="8782050"/>
            <a:ext cx="219075" cy="1076325"/>
          </a:xfrm>
          <a:custGeom>
            <a:avLst/>
            <a:gdLst/>
            <a:ahLst/>
            <a:cxnLst/>
            <a:rect r="r" b="b" t="t" l="l"/>
            <a:pathLst>
              <a:path h="1076325" w="21907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023360" y="8799385"/>
            <a:ext cx="193852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4767" spc="-95" b="true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$2,500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23360" y="9557766"/>
            <a:ext cx="12435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7-day sprint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524625" y="878205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443216" y="8823198"/>
            <a:ext cx="17373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4"/>
              </a:lnSpc>
            </a:pPr>
            <a:r>
              <a:rPr lang="en-US" sz="4570" spc="-91" b="true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$1,250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43216" y="9557766"/>
            <a:ext cx="213969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30-day maintenance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3776" y="5977890"/>
            <a:ext cx="9509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lead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9232" y="5977890"/>
            <a:ext cx="168249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enrichment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07024" y="5977890"/>
            <a:ext cx="192024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 workflows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23376" y="5977890"/>
            <a:ext cx="12435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3-day sprint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3776" y="6368796"/>
            <a:ext cx="160934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 submitted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99232" y="6368796"/>
            <a:ext cx="129844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Lead routing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07024" y="6368796"/>
            <a:ext cx="217627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configuration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723376" y="6368796"/>
            <a:ext cx="12435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7-day sprint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3776" y="6759702"/>
            <a:ext cx="12435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Call booked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99232" y="6759702"/>
            <a:ext cx="23042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Personalized outreach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07024" y="6759702"/>
            <a:ext cx="17373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Integration setup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723376" y="6759702"/>
            <a:ext cx="204825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30-day maintenance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93776" y="7150608"/>
            <a:ext cx="14264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Stage change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99232" y="7150608"/>
            <a:ext cx="13898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CRM updates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907024" y="7150608"/>
            <a:ext cx="13533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 &amp; QA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723376" y="7183945"/>
            <a:ext cx="135331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-2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Handoff &amp; training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3776" y="7531227"/>
            <a:ext cx="149961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Manual trigger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999232" y="7531227"/>
            <a:ext cx="13533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Task creation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26880" y="8950071"/>
            <a:ext cx="7315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 spc="-64" b="true">
                <a:solidFill>
                  <a:srgbClr val="FF6835"/>
                </a:solidFill>
                <a:latin typeface="Roboto Bold"/>
                <a:ea typeface="Roboto Bold"/>
                <a:cs typeface="Roboto Bold"/>
                <a:sym typeface="Roboto Bold"/>
              </a:rPr>
              <a:t>/mo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1193566"/>
            <a:ext cx="7022592" cy="304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9"/>
              </a:lnSpc>
            </a:pPr>
            <a:r>
              <a:rPr lang="en-US" sz="8817" spc="-4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Product 2 — Custom Agent Subscription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00925" y="2143125"/>
            <a:ext cx="9582150" cy="7077075"/>
          </a:xfrm>
          <a:custGeom>
            <a:avLst/>
            <a:gdLst/>
            <a:ahLst/>
            <a:cxnLst/>
            <a:rect r="r" b="b" t="t" l="l"/>
            <a:pathLst>
              <a:path h="7077075" w="9582150">
                <a:moveTo>
                  <a:pt x="0" y="0"/>
                </a:moveTo>
                <a:lnTo>
                  <a:pt x="9582150" y="0"/>
                </a:lnTo>
                <a:lnTo>
                  <a:pt x="958215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10775" y="2781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77550" y="2781300"/>
            <a:ext cx="228600" cy="219075"/>
          </a:xfrm>
          <a:custGeom>
            <a:avLst/>
            <a:gdLst/>
            <a:ahLst/>
            <a:cxnLst/>
            <a:rect r="r" b="b" t="t" l="l"/>
            <a:pathLst>
              <a:path h="219075" w="228600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10775" y="3429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10775" y="38576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10775" y="4495800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10775" y="492442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10775" y="5353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92000" y="2781300"/>
            <a:ext cx="3486150" cy="1076325"/>
          </a:xfrm>
          <a:custGeom>
            <a:avLst/>
            <a:gdLst/>
            <a:ahLst/>
            <a:cxnLst/>
            <a:rect r="r" b="b" t="t" l="l"/>
            <a:pathLst>
              <a:path h="1076325" w="3486150">
                <a:moveTo>
                  <a:pt x="0" y="0"/>
                </a:moveTo>
                <a:lnTo>
                  <a:pt x="3486150" y="0"/>
                </a:lnTo>
                <a:lnTo>
                  <a:pt x="3486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58775" y="3857625"/>
            <a:ext cx="3495675" cy="1285875"/>
          </a:xfrm>
          <a:custGeom>
            <a:avLst/>
            <a:gdLst/>
            <a:ahLst/>
            <a:cxnLst/>
            <a:rect r="r" b="b" t="t" l="l"/>
            <a:pathLst>
              <a:path h="1285875" w="3495675">
                <a:moveTo>
                  <a:pt x="0" y="0"/>
                </a:moveTo>
                <a:lnTo>
                  <a:pt x="3495675" y="0"/>
                </a:lnTo>
                <a:lnTo>
                  <a:pt x="3495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972925" y="5143500"/>
            <a:ext cx="3267075" cy="1504950"/>
          </a:xfrm>
          <a:custGeom>
            <a:avLst/>
            <a:gdLst/>
            <a:ahLst/>
            <a:cxnLst/>
            <a:rect r="r" b="b" t="t" l="l"/>
            <a:pathLst>
              <a:path h="1504950" w="3267075">
                <a:moveTo>
                  <a:pt x="0" y="0"/>
                </a:moveTo>
                <a:lnTo>
                  <a:pt x="3267075" y="0"/>
                </a:lnTo>
                <a:lnTo>
                  <a:pt x="3267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72925" y="6638925"/>
            <a:ext cx="3924300" cy="866775"/>
          </a:xfrm>
          <a:custGeom>
            <a:avLst/>
            <a:gdLst/>
            <a:ahLst/>
            <a:cxnLst/>
            <a:rect r="r" b="b" t="t" l="l"/>
            <a:pathLst>
              <a:path h="866775" w="3924300">
                <a:moveTo>
                  <a:pt x="0" y="0"/>
                </a:moveTo>
                <a:lnTo>
                  <a:pt x="3924300" y="0"/>
                </a:lnTo>
                <a:lnTo>
                  <a:pt x="3924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68625" y="6638925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887700" y="6858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49808" y="4382664"/>
            <a:ext cx="7571232" cy="520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463" b="true">
                <a:solidFill>
                  <a:srgbClr val="FF6A2C"/>
                </a:solidFill>
                <a:latin typeface="Roboto Bold"/>
                <a:ea typeface="Roboto Bold"/>
                <a:cs typeface="Roboto Bold"/>
                <a:sym typeface="Roboto Bold"/>
              </a:rPr>
              <a:t>AI-powered autonomous prospecting agent that runs for your pipeline.</a:t>
            </a:r>
          </a:p>
          <a:p>
            <a:pPr algn="l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463" b="true">
                <a:solidFill>
                  <a:srgbClr val="FF6A2C"/>
                </a:solidFill>
                <a:latin typeface="Roboto Bold"/>
                <a:ea typeface="Roboto Bold"/>
                <a:cs typeface="Roboto Bold"/>
                <a:sym typeface="Roboto Bold"/>
              </a:rPr>
              <a:t>Continuous pipeline growth </a:t>
            </a:r>
            <a:r>
              <a:rPr lang="en-US" sz="24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without agency fees</a:t>
            </a:r>
          </a:p>
          <a:p>
            <a:pPr algn="l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463" b="true">
                <a:solidFill>
                  <a:srgbClr val="FF6A2C"/>
                </a:solidFill>
                <a:latin typeface="Roboto Bold"/>
                <a:ea typeface="Roboto Bold"/>
                <a:cs typeface="Roboto Bold"/>
                <a:sym typeface="Roboto Bold"/>
              </a:rPr>
              <a:t>Tech setup, ICP discovery, research,</a:t>
            </a:r>
          </a:p>
          <a:p>
            <a:pPr algn="l">
              <a:lnSpc>
                <a:spcPts val="3202"/>
              </a:lnSpc>
            </a:pPr>
            <a:r>
              <a:rPr lang="en-US" sz="24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copywriting, pipeline management</a:t>
            </a:r>
          </a:p>
          <a:p>
            <a:pPr algn="l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463" b="true">
                <a:solidFill>
                  <a:srgbClr val="FF6A2C"/>
                </a:solidFill>
                <a:latin typeface="Roboto Bold"/>
                <a:ea typeface="Roboto Bold"/>
                <a:cs typeface="Roboto Bold"/>
                <a:sym typeface="Roboto Bold"/>
              </a:rPr>
              <a:t>Chat interface with tool integrations</a:t>
            </a:r>
          </a:p>
          <a:p>
            <a:pPr algn="l">
              <a:lnSpc>
                <a:spcPts val="3202"/>
              </a:lnSpc>
            </a:pPr>
            <a:r>
              <a:rPr lang="en-US" sz="24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configurable personas</a:t>
            </a:r>
          </a:p>
          <a:p>
            <a:pPr algn="l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463" b="true">
                <a:solidFill>
                  <a:srgbClr val="FF6A2C"/>
                </a:solidFill>
                <a:latin typeface="Roboto Bold"/>
                <a:ea typeface="Roboto Bold"/>
                <a:cs typeface="Roboto Bold"/>
                <a:sym typeface="Roboto Bold"/>
              </a:rPr>
              <a:t>Custom subscription.</a:t>
            </a:r>
          </a:p>
          <a:p>
            <a:pPr algn="l">
              <a:lnSpc>
                <a:spcPts val="3202"/>
              </a:lnSpc>
            </a:pPr>
            <a:r>
              <a:rPr lang="en-US" sz="246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 for details.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6775" y="0"/>
            <a:ext cx="9801225" cy="10287000"/>
          </a:xfrm>
          <a:custGeom>
            <a:avLst/>
            <a:gdLst/>
            <a:ahLst/>
            <a:cxnLst/>
            <a:rect r="r" b="b" t="t" l="l"/>
            <a:pathLst>
              <a:path h="10287000" w="9801225">
                <a:moveTo>
                  <a:pt x="0" y="0"/>
                </a:moveTo>
                <a:lnTo>
                  <a:pt x="9801225" y="0"/>
                </a:lnTo>
                <a:lnTo>
                  <a:pt x="9801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1792" y="583091"/>
            <a:ext cx="1737360" cy="39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b="true" sz="2198" spc="65">
                <a:solidFill>
                  <a:srgbClr val="F0592C"/>
                </a:solidFill>
                <a:latin typeface="Roboto Bold"/>
                <a:ea typeface="Roboto Bold"/>
                <a:cs typeface="Roboto Bold"/>
                <a:sym typeface="Roboto Bold"/>
              </a:rPr>
              <a:t>PRODUCT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792" y="1181659"/>
            <a:ext cx="4279392" cy="106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7995" spc="-23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DIY Build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1792" y="3243959"/>
            <a:ext cx="5961888" cy="9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 spc="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Self-serve toolkit for building your own automation system.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368" y="4476351"/>
            <a:ext cx="2596896" cy="138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489" spc="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Technical teams</a:t>
            </a:r>
          </a:p>
          <a:p>
            <a:pPr algn="l">
              <a:lnSpc>
                <a:spcPts val="3733"/>
              </a:lnSpc>
            </a:pPr>
            <a:r>
              <a:rPr lang="en-US" sz="2489" spc="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Agencies</a:t>
            </a:r>
          </a:p>
          <a:p>
            <a:pPr algn="l">
              <a:lnSpc>
                <a:spcPts val="3733"/>
              </a:lnSpc>
            </a:pPr>
            <a:r>
              <a:rPr lang="en-US" sz="2489" spc="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AI-native builders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625" y="6000750"/>
            <a:ext cx="7629525" cy="219075"/>
          </a:xfrm>
          <a:custGeom>
            <a:avLst/>
            <a:gdLst/>
            <a:ahLst/>
            <a:cxnLst/>
            <a:rect r="r" b="b" t="t" l="l"/>
            <a:pathLst>
              <a:path h="219075" w="7629525">
                <a:moveTo>
                  <a:pt x="0" y="0"/>
                </a:moveTo>
                <a:lnTo>
                  <a:pt x="7629525" y="0"/>
                </a:lnTo>
                <a:lnTo>
                  <a:pt x="7629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8368" y="6391830"/>
            <a:ext cx="2029968" cy="34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1869" spc="5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n8n engineer skill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48000" y="6429375"/>
            <a:ext cx="219075" cy="647700"/>
          </a:xfrm>
          <a:custGeom>
            <a:avLst/>
            <a:gdLst/>
            <a:ahLst/>
            <a:cxnLst/>
            <a:rect r="r" b="b" t="t" l="l"/>
            <a:pathLst>
              <a:path h="647700" w="219075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57600" y="6458141"/>
            <a:ext cx="117043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b="true" sz="1913" spc="5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workflow</a:t>
            </a:r>
          </a:p>
          <a:p>
            <a:pPr algn="ctr">
              <a:lnSpc>
                <a:spcPts val="2296"/>
              </a:lnSpc>
            </a:pPr>
            <a:r>
              <a:rPr lang="en-US" b="true" sz="1913" spc="5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templates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219700" y="642937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79008" y="6391830"/>
            <a:ext cx="1572768" cy="34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</a:pPr>
            <a:r>
              <a:rPr lang="en-US" b="true" sz="1869" spc="5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build prompts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792" y="7483840"/>
            <a:ext cx="2523744" cy="32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b="true" sz="1762" spc="52">
                <a:solidFill>
                  <a:srgbClr val="F0592C"/>
                </a:solidFill>
                <a:latin typeface="Roboto Bold"/>
                <a:ea typeface="Roboto Bold"/>
                <a:cs typeface="Roboto Bold"/>
                <a:sym typeface="Roboto Bold"/>
              </a:rPr>
              <a:t>DEPLOYMENT IN BRIEF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1792" y="8026908"/>
            <a:ext cx="14630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913" spc="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Set up environment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171700" y="81438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07792" y="8026908"/>
            <a:ext cx="117043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913" spc="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Import</a:t>
            </a:r>
          </a:p>
          <a:p>
            <a:pPr algn="l">
              <a:lnSpc>
                <a:spcPts val="2296"/>
              </a:lnSpc>
            </a:pPr>
            <a:r>
              <a:rPr lang="en-US" sz="1913" spc="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templates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133850" y="814387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919472" y="8017383"/>
            <a:ext cx="142646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80" spc="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Configure &amp; customize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524625" y="81438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187184" y="8017383"/>
            <a:ext cx="80467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80" spc="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Test &amp; launch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1792" y="2189785"/>
            <a:ext cx="3767328" cy="106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7995" spc="-239" b="true">
                <a:solidFill>
                  <a:srgbClr val="F0592C"/>
                </a:solidFill>
                <a:latin typeface="Roboto Bold"/>
                <a:ea typeface="Roboto Bold"/>
                <a:cs typeface="Roboto Bold"/>
                <a:sym typeface="Roboto Bold"/>
              </a:rPr>
              <a:t>Package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1792" y="9318569"/>
            <a:ext cx="5852160" cy="379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5"/>
              </a:lnSpc>
            </a:pPr>
            <a:r>
              <a:rPr lang="en-US" sz="2043" spc="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Contact </a:t>
            </a:r>
            <a:r>
              <a:rPr lang="en-US" sz="2043" spc="61" b="true">
                <a:solidFill>
                  <a:srgbClr val="F0592C"/>
                </a:solidFill>
                <a:latin typeface="Roboto Bold"/>
                <a:ea typeface="Roboto Bold"/>
                <a:cs typeface="Roboto Bold"/>
                <a:sym typeface="Roboto Bold"/>
              </a:rPr>
              <a:t>SalesGen</a:t>
            </a:r>
            <a:r>
              <a:rPr lang="en-US" sz="2043" spc="6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cy</a:t>
            </a:r>
            <a:r>
              <a:rPr lang="en-US" sz="2043" spc="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 licensing and purchase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1792" y="8985742"/>
            <a:ext cx="950976" cy="32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b="true" sz="1762" spc="52">
                <a:solidFill>
                  <a:srgbClr val="F0592C"/>
                </a:solidFill>
                <a:latin typeface="Roboto Bold"/>
                <a:ea typeface="Roboto Bold"/>
                <a:cs typeface="Roboto Bold"/>
                <a:sym typeface="Roboto Bold"/>
              </a:rPr>
              <a:t>PRICING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1159771"/>
            <a:ext cx="6839712" cy="180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4"/>
              </a:lnSpc>
            </a:pPr>
            <a:r>
              <a:rPr lang="en-US" sz="69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Supported Tools &amp; Integrations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096" y="3089654"/>
            <a:ext cx="4736592" cy="9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Connect the best platforms. Power seamless automation.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672" y="4716018"/>
            <a:ext cx="230428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 b="true">
                <a:solidFill>
                  <a:srgbClr val="FF6A3D"/>
                </a:solidFill>
                <a:latin typeface="Roboto Bold"/>
                <a:ea typeface="Roboto Bold"/>
                <a:cs typeface="Roboto Bold"/>
                <a:sym typeface="Roboto Bold"/>
              </a:rPr>
              <a:t>DATA &amp; CONTACT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672" y="5455563"/>
            <a:ext cx="1280160" cy="206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8"/>
              </a:lnSpc>
            </a:pPr>
            <a:r>
              <a:rPr lang="en-US" sz="23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Clay</a:t>
            </a:r>
          </a:p>
          <a:p>
            <a:pPr algn="l">
              <a:lnSpc>
                <a:spcPts val="4168"/>
              </a:lnSpc>
            </a:pPr>
            <a:r>
              <a:rPr lang="en-US" sz="23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Apollo.io</a:t>
            </a:r>
          </a:p>
          <a:p>
            <a:pPr algn="l">
              <a:lnSpc>
                <a:spcPts val="4168"/>
              </a:lnSpc>
            </a:pPr>
            <a:r>
              <a:rPr lang="en-US" sz="23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ZoomInfo</a:t>
            </a:r>
          </a:p>
          <a:p>
            <a:pPr algn="l">
              <a:lnSpc>
                <a:spcPts val="4168"/>
              </a:lnSpc>
            </a:pPr>
            <a:r>
              <a:rPr lang="en-US" sz="23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more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476625" y="4714875"/>
            <a:ext cx="228600" cy="3000375"/>
          </a:xfrm>
          <a:custGeom>
            <a:avLst/>
            <a:gdLst/>
            <a:ahLst/>
            <a:cxnLst/>
            <a:rect r="r" b="b" t="t" l="l"/>
            <a:pathLst>
              <a:path h="3000375" w="228600">
                <a:moveTo>
                  <a:pt x="0" y="0"/>
                </a:moveTo>
                <a:lnTo>
                  <a:pt x="228600" y="0"/>
                </a:lnTo>
                <a:lnTo>
                  <a:pt x="228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05550" y="4714875"/>
            <a:ext cx="228600" cy="3000375"/>
          </a:xfrm>
          <a:custGeom>
            <a:avLst/>
            <a:gdLst/>
            <a:ahLst/>
            <a:cxnLst/>
            <a:rect r="r" b="b" t="t" l="l"/>
            <a:pathLst>
              <a:path h="3000375" w="228600">
                <a:moveTo>
                  <a:pt x="0" y="0"/>
                </a:moveTo>
                <a:lnTo>
                  <a:pt x="228600" y="0"/>
                </a:lnTo>
                <a:lnTo>
                  <a:pt x="2286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48272" y="4716018"/>
            <a:ext cx="17190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076" b="true">
                <a:solidFill>
                  <a:srgbClr val="FF6A3D"/>
                </a:solidFill>
                <a:latin typeface="Roboto Bold"/>
                <a:ea typeface="Roboto Bold"/>
                <a:cs typeface="Roboto Bold"/>
                <a:sym typeface="Roboto Bold"/>
              </a:rPr>
              <a:t>OUTREACH &amp; SEQUENCING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48272" y="5438656"/>
            <a:ext cx="2029968" cy="209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9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Instantly</a:t>
            </a:r>
          </a:p>
          <a:p>
            <a:pPr algn="l">
              <a:lnSpc>
                <a:spcPts val="4269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HubSpot Sales</a:t>
            </a:r>
          </a:p>
          <a:p>
            <a:pPr algn="l">
              <a:lnSpc>
                <a:spcPts val="4269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Salesforce</a:t>
            </a:r>
          </a:p>
          <a:p>
            <a:pPr algn="l">
              <a:lnSpc>
                <a:spcPts val="4269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more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096" y="8212580"/>
            <a:ext cx="6053328" cy="9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Unified integrations for </a:t>
            </a:r>
            <a:r>
              <a:rPr lang="en-US" sz="2814">
                <a:solidFill>
                  <a:srgbClr val="FF6A3D"/>
                </a:solidFill>
                <a:latin typeface="Roboto"/>
                <a:ea typeface="Roboto"/>
                <a:cs typeface="Roboto"/>
                <a:sym typeface="Roboto"/>
              </a:rPr>
              <a:t>cleaner data,</a:t>
            </a:r>
            <a:r>
              <a:rPr lang="en-US" sz="28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smarter workflows, and better results.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20000" y="1066800"/>
            <a:ext cx="10668000" cy="9220200"/>
          </a:xfrm>
          <a:custGeom>
            <a:avLst/>
            <a:gdLst/>
            <a:ahLst/>
            <a:cxnLst/>
            <a:rect r="r" b="b" t="t" l="l"/>
            <a:pathLst>
              <a:path h="9220200" w="10668000">
                <a:moveTo>
                  <a:pt x="0" y="0"/>
                </a:moveTo>
                <a:lnTo>
                  <a:pt x="10668000" y="0"/>
                </a:lnTo>
                <a:lnTo>
                  <a:pt x="1066800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96625" y="1924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96625" y="23526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15700" y="2781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612880" y="2908637"/>
            <a:ext cx="877824" cy="26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ZoomInfo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315700" y="34290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315700" y="40671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15700" y="4495800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534775" y="5143500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534775" y="57816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960352" y="5762065"/>
            <a:ext cx="1261872" cy="25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HubSpot Sales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534775" y="6210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913632" y="5552837"/>
            <a:ext cx="1280160" cy="187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1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HubSpot</a:t>
            </a:r>
          </a:p>
          <a:p>
            <a:pPr algn="l">
              <a:lnSpc>
                <a:spcPts val="3813"/>
              </a:lnSpc>
            </a:pPr>
            <a:r>
              <a:rPr lang="en-US" sz="21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Salesforce</a:t>
            </a:r>
          </a:p>
          <a:p>
            <a:pPr algn="l">
              <a:lnSpc>
                <a:spcPts val="3813"/>
              </a:lnSpc>
            </a:pPr>
            <a:r>
              <a:rPr lang="en-US" sz="21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Attio</a:t>
            </a:r>
          </a:p>
          <a:p>
            <a:pPr algn="l">
              <a:lnSpc>
                <a:spcPts val="3813"/>
              </a:lnSpc>
            </a:pPr>
            <a:r>
              <a:rPr lang="en-US" sz="21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more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13632" y="4754880"/>
            <a:ext cx="20848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80" b="true">
                <a:solidFill>
                  <a:srgbClr val="FF6A3D"/>
                </a:solidFill>
                <a:latin typeface="Roboto Bold"/>
                <a:ea typeface="Roboto Bold"/>
                <a:cs typeface="Roboto Bold"/>
                <a:sym typeface="Roboto Bold"/>
              </a:rPr>
              <a:t>CRM PLATFORMS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12880" y="1986320"/>
            <a:ext cx="365760" cy="2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4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Clay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12880" y="2496741"/>
            <a:ext cx="786384" cy="26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Apollo.io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77472" y="3646110"/>
            <a:ext cx="713232" cy="24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HubSpot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77472" y="4143077"/>
            <a:ext cx="950976" cy="26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Salesforce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77472" y="4602409"/>
            <a:ext cx="530352" cy="28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Atio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60352" y="5278160"/>
            <a:ext cx="731520" cy="25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4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Instantly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60352" y="6258616"/>
            <a:ext cx="1024128" cy="28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Salesforce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1155195"/>
            <a:ext cx="9619488" cy="293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6"/>
              </a:lnSpc>
            </a:pPr>
            <a:r>
              <a:rPr lang="en-US" sz="7995" spc="-33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Benefits of SalesGen</a:t>
            </a:r>
            <a:r>
              <a:rPr lang="en-US" b="true" sz="7995" spc="-33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cy’s Prospect Automation Engine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4714875"/>
            <a:ext cx="5019675" cy="219075"/>
          </a:xfrm>
          <a:custGeom>
            <a:avLst/>
            <a:gdLst/>
            <a:ahLst/>
            <a:cxnLst/>
            <a:rect r="r" b="b" t="t" l="l"/>
            <a:pathLst>
              <a:path h="219075" w="5019675">
                <a:moveTo>
                  <a:pt x="0" y="0"/>
                </a:moveTo>
                <a:lnTo>
                  <a:pt x="5019675" y="0"/>
                </a:lnTo>
                <a:lnTo>
                  <a:pt x="5019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8096" y="5213187"/>
            <a:ext cx="5193792" cy="52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865" spc="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Automates outb</a:t>
            </a:r>
            <a:r>
              <a:rPr lang="en-US" sz="1865" spc="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ound and inbound go-to-market motions end-to-end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096" y="6080294"/>
            <a:ext cx="5340096" cy="73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593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Combines ICP discovery, research, and</a:t>
            </a:r>
            <a:r>
              <a:rPr lang="en-US" sz="2593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personalized messaging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096" y="7047272"/>
            <a:ext cx="5157216" cy="73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593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Protects CRM data integrity with deduplication and approval gates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096" y="8014250"/>
            <a:ext cx="4480560" cy="73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593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Enables scalable, consistent pipeline building on autopilot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096" y="9012089"/>
            <a:ext cx="4773168" cy="73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593" spc="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Frees sales teams to focus on closing, not sourcing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817226"/>
            <a:ext cx="7004304" cy="210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20"/>
              </a:lnSpc>
            </a:pPr>
            <a:r>
              <a:rPr lang="en-US" sz="7473" spc="-2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Pricing &amp; Getting Started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3300459"/>
            <a:ext cx="2706624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 b="true">
                <a:solidFill>
                  <a:srgbClr val="FF7E4E"/>
                </a:solidFill>
                <a:latin typeface="Roboto Bold"/>
                <a:ea typeface="Roboto Bold"/>
                <a:cs typeface="Roboto Bold"/>
                <a:sym typeface="Roboto Bold"/>
              </a:rPr>
              <a:t>CHOOSE YOUR PATH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5143500"/>
            <a:ext cx="12420600" cy="219075"/>
          </a:xfrm>
          <a:custGeom>
            <a:avLst/>
            <a:gdLst/>
            <a:ahLst/>
            <a:cxnLst/>
            <a:rect r="r" b="b" t="t" l="l"/>
            <a:pathLst>
              <a:path h="219075" w="12420600">
                <a:moveTo>
                  <a:pt x="0" y="0"/>
                </a:moveTo>
                <a:lnTo>
                  <a:pt x="12420600" y="0"/>
                </a:lnTo>
                <a:lnTo>
                  <a:pt x="1242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1520" y="5584173"/>
            <a:ext cx="2944368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 b="true">
                <a:solidFill>
                  <a:srgbClr val="FF7E4E"/>
                </a:solidFill>
                <a:latin typeface="Roboto Bold"/>
                <a:ea typeface="Roboto Bold"/>
                <a:cs typeface="Roboto Bold"/>
                <a:sym typeface="Roboto Bold"/>
              </a:rPr>
              <a:t>THREE WAYS TO BEGIN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6067662"/>
            <a:ext cx="2304288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Book Intake Call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48000" y="6000750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97680" y="6067662"/>
            <a:ext cx="2212848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Request Demo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24625" y="6000750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18704" y="6067662"/>
            <a:ext cx="3218688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Purchase DIY Package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7700" y="6638925"/>
            <a:ext cx="12420600" cy="219075"/>
          </a:xfrm>
          <a:custGeom>
            <a:avLst/>
            <a:gdLst/>
            <a:ahLst/>
            <a:cxnLst/>
            <a:rect r="r" b="b" t="t" l="l"/>
            <a:pathLst>
              <a:path h="219075" w="12420600">
                <a:moveTo>
                  <a:pt x="0" y="0"/>
                </a:moveTo>
                <a:lnTo>
                  <a:pt x="12420600" y="0"/>
                </a:lnTo>
                <a:lnTo>
                  <a:pt x="1242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1520" y="7014066"/>
            <a:ext cx="804672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 b="true">
                <a:solidFill>
                  <a:srgbClr val="FF7E4E"/>
                </a:solidFill>
                <a:latin typeface="Roboto Bold"/>
                <a:ea typeface="Roboto Bold"/>
                <a:cs typeface="Roboto Bold"/>
                <a:sym typeface="Roboto Bold"/>
              </a:rPr>
              <a:t>SALES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72000" y="6858000"/>
            <a:ext cx="219075" cy="1504950"/>
          </a:xfrm>
          <a:custGeom>
            <a:avLst/>
            <a:gdLst/>
            <a:ahLst/>
            <a:cxnLst/>
            <a:rect r="r" b="b" t="t" l="l"/>
            <a:pathLst>
              <a:path h="1504950" w="219075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31520" y="8561356"/>
            <a:ext cx="5340096" cy="103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Start building or scaling your GTM automation </a:t>
            </a:r>
            <a:r>
              <a:rPr lang="en-US" sz="2962">
                <a:solidFill>
                  <a:srgbClr val="FF7E4E"/>
                </a:solidFill>
                <a:latin typeface="Roboto"/>
                <a:ea typeface="Roboto"/>
                <a:cs typeface="Roboto"/>
                <a:sym typeface="Roboto"/>
              </a:rPr>
              <a:t>today.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520" y="3773661"/>
            <a:ext cx="4297680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 Workflow Engagements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" y="4246863"/>
            <a:ext cx="1920240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 Agent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1520" y="4720065"/>
            <a:ext cx="1719072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DIY Package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1520" y="7492454"/>
            <a:ext cx="2706624" cy="29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9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sales@salesagency.com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1520" y="7928988"/>
            <a:ext cx="2706624" cy="29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hello@salesagency.com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57216" y="7014066"/>
            <a:ext cx="1207008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 b="true">
                <a:solidFill>
                  <a:srgbClr val="FF7E4E"/>
                </a:solidFill>
                <a:latin typeface="Roboto Bold"/>
                <a:ea typeface="Roboto Bold"/>
                <a:cs typeface="Roboto Bold"/>
                <a:sym typeface="Roboto Bold"/>
              </a:rPr>
              <a:t>SUPPORT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57216" y="7487268"/>
            <a:ext cx="3273552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support@salesagency.com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57216" y="7950183"/>
            <a:ext cx="2432304" cy="3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We’re here to help.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4672" y="1446935"/>
            <a:ext cx="8046720" cy="261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spc="-3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 &amp; Let’s Connect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4672" y="4350569"/>
            <a:ext cx="8412480" cy="111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 spc="-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We’re here to answer your questions</a:t>
            </a:r>
          </a:p>
          <a:p>
            <a:pPr algn="l">
              <a:lnSpc>
                <a:spcPts val="4486"/>
              </a:lnSpc>
            </a:pPr>
            <a:r>
              <a:rPr lang="en-US" sz="3204" spc="-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help you drive your next stage of growth.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672" y="5887021"/>
            <a:ext cx="67482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b="true" sz="2779" spc="-83">
                <a:solidFill>
                  <a:srgbClr val="F46B47"/>
                </a:solidFill>
                <a:latin typeface="Roboto Bold"/>
                <a:ea typeface="Roboto Bold"/>
                <a:cs typeface="Roboto Bold"/>
                <a:sym typeface="Roboto Bold"/>
              </a:rPr>
              <a:t>LET’S BUILD WHAT’S NEXT, TOGETHER.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6638925"/>
            <a:ext cx="228600" cy="1724025"/>
          </a:xfrm>
          <a:custGeom>
            <a:avLst/>
            <a:gdLst/>
            <a:ahLst/>
            <a:cxnLst/>
            <a:rect r="r" b="b" t="t" l="l"/>
            <a:pathLst>
              <a:path h="1724025" w="228600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4672" y="8682347"/>
            <a:ext cx="7004304" cy="54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sz="2779" spc="-8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hello@salesgency.com | salesgency.com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81550" y="878205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7008" y="6635937"/>
            <a:ext cx="4882896" cy="169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2814" spc="-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Request a demo</a:t>
            </a:r>
          </a:p>
          <a:p>
            <a:pPr algn="l">
              <a:lnSpc>
                <a:spcPts val="4503"/>
              </a:lnSpc>
            </a:pPr>
            <a:r>
              <a:rPr lang="en-US" sz="2814" spc="-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 a consultation</a:t>
            </a:r>
          </a:p>
          <a:p>
            <a:pPr algn="l">
              <a:lnSpc>
                <a:spcPts val="4503"/>
              </a:lnSpc>
            </a:pPr>
            <a:r>
              <a:rPr lang="en-US" sz="2814" spc="-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Start your custom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DAHUkKAYmtY</dc:identifier>
  <dcterms:modified xsi:type="dcterms:W3CDTF">2011-08-01T06:04:30Z</dcterms:modified>
  <cp:revision>1</cp:revision>
  <dc:title>SalesGency Pitch Deck</dc:title>
</cp:coreProperties>
</file>